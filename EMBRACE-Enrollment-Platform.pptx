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1430000" cy="12674600"/>
  <p:notesSz cx="11430000" cy="126746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6438645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911128" y="1949450"/>
            <a:ext cx="4359909" cy="1073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41D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911128" y="3319907"/>
            <a:ext cx="3722370" cy="11226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41D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41D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7150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886450" y="1482407"/>
            <a:ext cx="4972050" cy="4253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041D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24879" y="492124"/>
            <a:ext cx="8063230" cy="539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041D3A"/>
                </a:solidFill>
                <a:latin typeface="Verdana"/>
                <a:cs typeface="Verdana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2590800"/>
            <a:ext cx="10210800" cy="21507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886200" y="5994082"/>
            <a:ext cx="36576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715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29600" y="5994082"/>
            <a:ext cx="2628900" cy="32226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hyperlink" Target="https://gamma.app/?utm_source=made-with-gamma" TargetMode="External"/><Relationship Id="rId6" Type="http://schemas.openxmlformats.org/officeDocument/2006/relationships/image" Target="../media/image2.pn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2.pn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hyperlink" Target="https://gamma.app/?utm_source=made-with-gamma" TargetMode="External"/><Relationship Id="rId9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png"/><Relationship Id="rId3" Type="http://schemas.openxmlformats.org/officeDocument/2006/relationships/image" Target="../media/image20.png"/><Relationship Id="rId4" Type="http://schemas.openxmlformats.org/officeDocument/2006/relationships/hyperlink" Target="https://gamma.app/?utm_source=made-with-gamma" TargetMode="External"/><Relationship Id="rId5" Type="http://schemas.openxmlformats.org/officeDocument/2006/relationships/image" Target="../media/image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image" Target="../media/image2.pn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35"/>
              <a:t>EMBRACE</a:t>
            </a:r>
            <a:r>
              <a:rPr dirty="0" spc="-370"/>
              <a:t> </a:t>
            </a:r>
            <a:r>
              <a:rPr dirty="0" spc="-110"/>
              <a:t>Enrollment </a:t>
            </a:r>
            <a:r>
              <a:rPr dirty="0" spc="-10"/>
              <a:t>Platform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subTitle" idx="4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seamless,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2B3440"/>
                </a:solidFill>
                <a:latin typeface="Verdana"/>
                <a:cs typeface="Verdana"/>
              </a:rPr>
              <a:t>user-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centric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experience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90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150" spc="-90">
                <a:solidFill>
                  <a:srgbClr val="2B3440"/>
                </a:solidFill>
                <a:latin typeface="Verdana"/>
                <a:cs typeface="Verdana"/>
              </a:rPr>
              <a:t>Presented</a:t>
            </a:r>
            <a:r>
              <a:rPr dirty="0" sz="115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155">
                <a:solidFill>
                  <a:srgbClr val="2B3440"/>
                </a:solidFill>
                <a:latin typeface="Verdana"/>
                <a:cs typeface="Verdana"/>
              </a:rPr>
              <a:t>By: </a:t>
            </a:r>
            <a:r>
              <a:rPr dirty="0" sz="1150" spc="-100">
                <a:solidFill>
                  <a:srgbClr val="2B3440"/>
                </a:solidFill>
                <a:latin typeface="Verdana"/>
                <a:cs typeface="Verdana"/>
              </a:rPr>
              <a:t>Your</a:t>
            </a:r>
            <a:r>
              <a:rPr dirty="0" sz="115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105">
                <a:solidFill>
                  <a:srgbClr val="2B3440"/>
                </a:solidFill>
                <a:latin typeface="Verdana"/>
                <a:cs typeface="Verdana"/>
              </a:rPr>
              <a:t>Name</a:t>
            </a:r>
            <a:r>
              <a:rPr dirty="0" sz="115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120">
                <a:solidFill>
                  <a:srgbClr val="2B3440"/>
                </a:solidFill>
                <a:latin typeface="Verdana"/>
                <a:cs typeface="Verdana"/>
              </a:rPr>
              <a:t>/</a:t>
            </a:r>
            <a:r>
              <a:rPr dirty="0" sz="115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20">
                <a:solidFill>
                  <a:srgbClr val="2B3440"/>
                </a:solidFill>
                <a:latin typeface="Verdana"/>
                <a:cs typeface="Verdana"/>
              </a:rPr>
              <a:t>Team</a:t>
            </a:r>
            <a:endParaRPr sz="115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70"/>
              </a:spcBef>
            </a:pPr>
            <a:endParaRPr sz="115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1150" spc="-95">
                <a:solidFill>
                  <a:srgbClr val="2B3440"/>
                </a:solidFill>
                <a:latin typeface="Verdana"/>
                <a:cs typeface="Verdana"/>
              </a:rPr>
              <a:t>Simplifying</a:t>
            </a:r>
            <a:r>
              <a:rPr dirty="0" sz="1150" spc="-13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150" spc="-12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70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150" spc="-13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95">
                <a:solidFill>
                  <a:srgbClr val="2B3440"/>
                </a:solidFill>
                <a:latin typeface="Verdana"/>
                <a:cs typeface="Verdana"/>
              </a:rPr>
              <a:t>users</a:t>
            </a:r>
            <a:r>
              <a:rPr dirty="0" sz="1150" spc="-12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100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150" spc="-12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150" spc="-25">
                <a:solidFill>
                  <a:srgbClr val="2B3440"/>
                </a:solidFill>
                <a:latin typeface="Verdana"/>
                <a:cs typeface="Verdana"/>
              </a:rPr>
              <a:t>administrators</a:t>
            </a:r>
            <a:endParaRPr sz="1150">
              <a:latin typeface="Verdana"/>
              <a:cs typeface="Verdana"/>
            </a:endParaRPr>
          </a:p>
        </p:txBody>
      </p:sp>
      <p:pic>
        <p:nvPicPr>
          <p:cNvPr id="4" name="object 4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343900"/>
          </a:xfrm>
          <a:custGeom>
            <a:avLst/>
            <a:gdLst/>
            <a:ahLst/>
            <a:cxnLst/>
            <a:rect l="l" t="t" r="r" b="b"/>
            <a:pathLst>
              <a:path w="11430000" h="8343900">
                <a:moveTo>
                  <a:pt x="11430000" y="0"/>
                </a:moveTo>
                <a:lnTo>
                  <a:pt x="0" y="0"/>
                </a:lnTo>
                <a:lnTo>
                  <a:pt x="0" y="8343900"/>
                </a:lnTo>
                <a:lnTo>
                  <a:pt x="11430000" y="8343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4286250" cy="834364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492125"/>
            <a:ext cx="564769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85"/>
              <a:t>Addressing</a:t>
            </a:r>
            <a:r>
              <a:rPr dirty="0" spc="-350"/>
              <a:t> </a:t>
            </a:r>
            <a:r>
              <a:rPr dirty="0" spc="-95"/>
              <a:t>Core</a:t>
            </a:r>
            <a:r>
              <a:rPr dirty="0" spc="-345"/>
              <a:t> </a:t>
            </a:r>
            <a:r>
              <a:rPr dirty="0" spc="-90"/>
              <a:t>Challenges </a:t>
            </a:r>
            <a:r>
              <a:rPr dirty="0" spc="-100"/>
              <a:t>in</a:t>
            </a:r>
            <a:r>
              <a:rPr dirty="0" spc="-390"/>
              <a:t> </a:t>
            </a:r>
            <a:r>
              <a:rPr dirty="0" spc="-10"/>
              <a:t>Enrollment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905375" y="1847849"/>
            <a:ext cx="5886450" cy="1362075"/>
            <a:chOff x="4905375" y="1847849"/>
            <a:chExt cx="5886450" cy="1362075"/>
          </a:xfrm>
        </p:grpSpPr>
        <p:sp>
          <p:nvSpPr>
            <p:cNvPr id="6" name="object 6" descr=""/>
            <p:cNvSpPr/>
            <p:nvPr/>
          </p:nvSpPr>
          <p:spPr>
            <a:xfrm>
              <a:off x="4924425" y="1857374"/>
              <a:ext cx="5857875" cy="1343025"/>
            </a:xfrm>
            <a:custGeom>
              <a:avLst/>
              <a:gdLst/>
              <a:ahLst/>
              <a:cxnLst/>
              <a:rect l="l" t="t" r="r" b="b"/>
              <a:pathLst>
                <a:path w="5857875" h="1343025">
                  <a:moveTo>
                    <a:pt x="5807202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76350"/>
                  </a:lnTo>
                  <a:lnTo>
                    <a:pt x="0" y="1280731"/>
                  </a:lnTo>
                  <a:lnTo>
                    <a:pt x="15621" y="1317028"/>
                  </a:lnTo>
                  <a:lnTo>
                    <a:pt x="51663" y="1339621"/>
                  </a:lnTo>
                  <a:lnTo>
                    <a:pt x="71196" y="1343025"/>
                  </a:lnTo>
                  <a:lnTo>
                    <a:pt x="5807202" y="1343025"/>
                  </a:lnTo>
                  <a:lnTo>
                    <a:pt x="5844501" y="1324622"/>
                  </a:lnTo>
                  <a:lnTo>
                    <a:pt x="5857875" y="1292352"/>
                  </a:lnTo>
                  <a:lnTo>
                    <a:pt x="5857875" y="50673"/>
                  </a:lnTo>
                  <a:lnTo>
                    <a:pt x="5839472" y="13360"/>
                  </a:lnTo>
                  <a:lnTo>
                    <a:pt x="5810732" y="342"/>
                  </a:lnTo>
                  <a:lnTo>
                    <a:pt x="580720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25263" y="1847862"/>
              <a:ext cx="5866765" cy="1362075"/>
            </a:xfrm>
            <a:custGeom>
              <a:avLst/>
              <a:gdLst/>
              <a:ahLst/>
              <a:cxnLst/>
              <a:rect l="l" t="t" r="r" b="b"/>
              <a:pathLst>
                <a:path w="5866765" h="1362075">
                  <a:moveTo>
                    <a:pt x="5866460" y="54825"/>
                  </a:moveTo>
                  <a:lnTo>
                    <a:pt x="5864923" y="47167"/>
                  </a:lnTo>
                  <a:lnTo>
                    <a:pt x="5858459" y="31546"/>
                  </a:lnTo>
                  <a:lnTo>
                    <a:pt x="5853849" y="24650"/>
                  </a:lnTo>
                  <a:lnTo>
                    <a:pt x="5848350" y="19151"/>
                  </a:lnTo>
                  <a:lnTo>
                    <a:pt x="5847880" y="18669"/>
                  </a:lnTo>
                  <a:lnTo>
                    <a:pt x="5841898" y="12700"/>
                  </a:lnTo>
                  <a:lnTo>
                    <a:pt x="5835002" y="8089"/>
                  </a:lnTo>
                  <a:lnTo>
                    <a:pt x="5819381" y="1612"/>
                  </a:lnTo>
                  <a:lnTo>
                    <a:pt x="581124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2542" y="19151"/>
                  </a:lnTo>
                  <a:lnTo>
                    <a:pt x="5803912" y="19151"/>
                  </a:lnTo>
                  <a:lnTo>
                    <a:pt x="5840133" y="39027"/>
                  </a:lnTo>
                  <a:lnTo>
                    <a:pt x="5847499" y="63754"/>
                  </a:lnTo>
                  <a:lnTo>
                    <a:pt x="5847499" y="1298321"/>
                  </a:lnTo>
                  <a:lnTo>
                    <a:pt x="5846724" y="1306766"/>
                  </a:lnTo>
                  <a:lnTo>
                    <a:pt x="5846686" y="1307236"/>
                  </a:lnTo>
                  <a:lnTo>
                    <a:pt x="5844235" y="1315478"/>
                  </a:lnTo>
                  <a:lnTo>
                    <a:pt x="5840133" y="1323035"/>
                  </a:lnTo>
                  <a:lnTo>
                    <a:pt x="5834837" y="1329410"/>
                  </a:lnTo>
                  <a:lnTo>
                    <a:pt x="5834405" y="1329931"/>
                  </a:lnTo>
                  <a:lnTo>
                    <a:pt x="5827522" y="1335646"/>
                  </a:lnTo>
                  <a:lnTo>
                    <a:pt x="5819927" y="1339761"/>
                  </a:lnTo>
                  <a:lnTo>
                    <a:pt x="5811723" y="1342199"/>
                  </a:lnTo>
                  <a:lnTo>
                    <a:pt x="5802795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79" y="1300746"/>
                  </a:lnTo>
                  <a:lnTo>
                    <a:pt x="0" y="1296631"/>
                  </a:lnTo>
                  <a:lnTo>
                    <a:pt x="609" y="1300746"/>
                  </a:lnTo>
                  <a:lnTo>
                    <a:pt x="21463" y="1339761"/>
                  </a:lnTo>
                  <a:lnTo>
                    <a:pt x="60490" y="1360614"/>
                  </a:lnTo>
                  <a:lnTo>
                    <a:pt x="75349" y="1362075"/>
                  </a:lnTo>
                  <a:lnTo>
                    <a:pt x="5811240" y="1362075"/>
                  </a:lnTo>
                  <a:lnTo>
                    <a:pt x="5819381" y="1360462"/>
                  </a:lnTo>
                  <a:lnTo>
                    <a:pt x="5835002" y="1353985"/>
                  </a:lnTo>
                  <a:lnTo>
                    <a:pt x="5841898" y="1349375"/>
                  </a:lnTo>
                  <a:lnTo>
                    <a:pt x="5847880" y="1343393"/>
                  </a:lnTo>
                  <a:lnTo>
                    <a:pt x="5848248" y="1343025"/>
                  </a:lnTo>
                  <a:lnTo>
                    <a:pt x="5848451" y="1343025"/>
                  </a:lnTo>
                  <a:lnTo>
                    <a:pt x="5853849" y="1337424"/>
                  </a:lnTo>
                  <a:lnTo>
                    <a:pt x="5858459" y="1330528"/>
                  </a:lnTo>
                  <a:lnTo>
                    <a:pt x="5864872" y="1315034"/>
                  </a:lnTo>
                  <a:lnTo>
                    <a:pt x="5866460" y="1307236"/>
                  </a:lnTo>
                  <a:lnTo>
                    <a:pt x="5866460" y="54825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905375" y="1847849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9575" y="0"/>
                  </a:lnTo>
                  <a:lnTo>
                    <a:pt x="55422" y="406"/>
                  </a:lnTo>
                  <a:lnTo>
                    <a:pt x="15709" y="21640"/>
                  </a:lnTo>
                  <a:lnTo>
                    <a:pt x="0" y="59575"/>
                  </a:lnTo>
                  <a:lnTo>
                    <a:pt x="0" y="1298321"/>
                  </a:lnTo>
                  <a:lnTo>
                    <a:pt x="0" y="1302499"/>
                  </a:lnTo>
                  <a:lnTo>
                    <a:pt x="15709" y="1340446"/>
                  </a:lnTo>
                  <a:lnTo>
                    <a:pt x="55422" y="1361668"/>
                  </a:lnTo>
                  <a:lnTo>
                    <a:pt x="59575" y="1362075"/>
                  </a:lnTo>
                  <a:lnTo>
                    <a:pt x="76200" y="13620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270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5169496" y="2030412"/>
            <a:ext cx="530352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Complicated</a:t>
            </a:r>
            <a:r>
              <a:rPr dirty="0" sz="1650" spc="-12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Processes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Users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often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face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confusing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overly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complex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journeys,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leading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frustration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2B3440"/>
                </a:solidFill>
                <a:latin typeface="Verdana"/>
                <a:cs typeface="Verdana"/>
              </a:rPr>
              <a:t>drop-</a:t>
            </a:r>
            <a:r>
              <a:rPr dirty="0" sz="1400" spc="-20">
                <a:solidFill>
                  <a:srgbClr val="2B3440"/>
                </a:solidFill>
                <a:latin typeface="Verdana"/>
                <a:cs typeface="Verdana"/>
              </a:rPr>
              <a:t>offs.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0" name="object 10" descr=""/>
          <p:cNvGrpSpPr/>
          <p:nvPr/>
        </p:nvGrpSpPr>
        <p:grpSpPr>
          <a:xfrm>
            <a:off x="4905375" y="3390900"/>
            <a:ext cx="5886450" cy="1362075"/>
            <a:chOff x="4905375" y="3390900"/>
            <a:chExt cx="5886450" cy="1362075"/>
          </a:xfrm>
        </p:grpSpPr>
        <p:sp>
          <p:nvSpPr>
            <p:cNvPr id="11" name="object 11" descr=""/>
            <p:cNvSpPr/>
            <p:nvPr/>
          </p:nvSpPr>
          <p:spPr>
            <a:xfrm>
              <a:off x="4924425" y="3400425"/>
              <a:ext cx="5857875" cy="1343025"/>
            </a:xfrm>
            <a:custGeom>
              <a:avLst/>
              <a:gdLst/>
              <a:ahLst/>
              <a:cxnLst/>
              <a:rect l="l" t="t" r="r" b="b"/>
              <a:pathLst>
                <a:path w="5857875" h="1343025">
                  <a:moveTo>
                    <a:pt x="5807202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76350"/>
                  </a:lnTo>
                  <a:lnTo>
                    <a:pt x="0" y="1280731"/>
                  </a:lnTo>
                  <a:lnTo>
                    <a:pt x="15621" y="1317028"/>
                  </a:lnTo>
                  <a:lnTo>
                    <a:pt x="51663" y="1339621"/>
                  </a:lnTo>
                  <a:lnTo>
                    <a:pt x="71196" y="1343025"/>
                  </a:lnTo>
                  <a:lnTo>
                    <a:pt x="5807202" y="1343025"/>
                  </a:lnTo>
                  <a:lnTo>
                    <a:pt x="5844501" y="1324622"/>
                  </a:lnTo>
                  <a:lnTo>
                    <a:pt x="5857875" y="1292352"/>
                  </a:lnTo>
                  <a:lnTo>
                    <a:pt x="5857875" y="50673"/>
                  </a:lnTo>
                  <a:lnTo>
                    <a:pt x="5839472" y="13360"/>
                  </a:lnTo>
                  <a:lnTo>
                    <a:pt x="5810732" y="342"/>
                  </a:lnTo>
                  <a:lnTo>
                    <a:pt x="580720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25263" y="3390912"/>
              <a:ext cx="5866765" cy="1362075"/>
            </a:xfrm>
            <a:custGeom>
              <a:avLst/>
              <a:gdLst/>
              <a:ahLst/>
              <a:cxnLst/>
              <a:rect l="l" t="t" r="r" b="b"/>
              <a:pathLst>
                <a:path w="5866765" h="1362075">
                  <a:moveTo>
                    <a:pt x="5866460" y="54825"/>
                  </a:moveTo>
                  <a:lnTo>
                    <a:pt x="5864923" y="47167"/>
                  </a:lnTo>
                  <a:lnTo>
                    <a:pt x="5858459" y="31546"/>
                  </a:lnTo>
                  <a:lnTo>
                    <a:pt x="5853849" y="24650"/>
                  </a:lnTo>
                  <a:lnTo>
                    <a:pt x="5848350" y="19151"/>
                  </a:lnTo>
                  <a:lnTo>
                    <a:pt x="5847880" y="18669"/>
                  </a:lnTo>
                  <a:lnTo>
                    <a:pt x="5841898" y="12700"/>
                  </a:lnTo>
                  <a:lnTo>
                    <a:pt x="5835002" y="8089"/>
                  </a:lnTo>
                  <a:lnTo>
                    <a:pt x="5819381" y="1612"/>
                  </a:lnTo>
                  <a:lnTo>
                    <a:pt x="581124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406"/>
                  </a:lnTo>
                  <a:lnTo>
                    <a:pt x="72542" y="19151"/>
                  </a:lnTo>
                  <a:lnTo>
                    <a:pt x="5803912" y="19151"/>
                  </a:lnTo>
                  <a:lnTo>
                    <a:pt x="5840133" y="39027"/>
                  </a:lnTo>
                  <a:lnTo>
                    <a:pt x="5847499" y="63754"/>
                  </a:lnTo>
                  <a:lnTo>
                    <a:pt x="5847499" y="1298321"/>
                  </a:lnTo>
                  <a:lnTo>
                    <a:pt x="5846724" y="1306766"/>
                  </a:lnTo>
                  <a:lnTo>
                    <a:pt x="5846686" y="1307236"/>
                  </a:lnTo>
                  <a:lnTo>
                    <a:pt x="5844235" y="1315478"/>
                  </a:lnTo>
                  <a:lnTo>
                    <a:pt x="5840133" y="1323035"/>
                  </a:lnTo>
                  <a:lnTo>
                    <a:pt x="5834837" y="1329410"/>
                  </a:lnTo>
                  <a:lnTo>
                    <a:pt x="5834405" y="1329931"/>
                  </a:lnTo>
                  <a:lnTo>
                    <a:pt x="5827522" y="1335646"/>
                  </a:lnTo>
                  <a:lnTo>
                    <a:pt x="5819927" y="1339761"/>
                  </a:lnTo>
                  <a:lnTo>
                    <a:pt x="5811723" y="1342199"/>
                  </a:lnTo>
                  <a:lnTo>
                    <a:pt x="5802795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79" y="1300746"/>
                  </a:lnTo>
                  <a:lnTo>
                    <a:pt x="0" y="1296644"/>
                  </a:lnTo>
                  <a:lnTo>
                    <a:pt x="609" y="1300746"/>
                  </a:lnTo>
                  <a:lnTo>
                    <a:pt x="21463" y="1339761"/>
                  </a:lnTo>
                  <a:lnTo>
                    <a:pt x="60490" y="1360614"/>
                  </a:lnTo>
                  <a:lnTo>
                    <a:pt x="75349" y="1362075"/>
                  </a:lnTo>
                  <a:lnTo>
                    <a:pt x="5811240" y="1362075"/>
                  </a:lnTo>
                  <a:lnTo>
                    <a:pt x="5819381" y="1360449"/>
                  </a:lnTo>
                  <a:lnTo>
                    <a:pt x="5835002" y="1353985"/>
                  </a:lnTo>
                  <a:lnTo>
                    <a:pt x="5841898" y="1349375"/>
                  </a:lnTo>
                  <a:lnTo>
                    <a:pt x="5847880" y="1343393"/>
                  </a:lnTo>
                  <a:lnTo>
                    <a:pt x="5848248" y="1343025"/>
                  </a:lnTo>
                  <a:lnTo>
                    <a:pt x="5848451" y="1343025"/>
                  </a:lnTo>
                  <a:lnTo>
                    <a:pt x="5853849" y="1337424"/>
                  </a:lnTo>
                  <a:lnTo>
                    <a:pt x="5858459" y="1330528"/>
                  </a:lnTo>
                  <a:lnTo>
                    <a:pt x="5864872" y="1315034"/>
                  </a:lnTo>
                  <a:lnTo>
                    <a:pt x="5866460" y="1307236"/>
                  </a:lnTo>
                  <a:lnTo>
                    <a:pt x="5866460" y="54825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905375" y="3390900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9575" y="0"/>
                  </a:lnTo>
                  <a:lnTo>
                    <a:pt x="55422" y="406"/>
                  </a:lnTo>
                  <a:lnTo>
                    <a:pt x="15709" y="21640"/>
                  </a:lnTo>
                  <a:lnTo>
                    <a:pt x="0" y="59575"/>
                  </a:lnTo>
                  <a:lnTo>
                    <a:pt x="0" y="1298321"/>
                  </a:lnTo>
                  <a:lnTo>
                    <a:pt x="0" y="1302499"/>
                  </a:lnTo>
                  <a:lnTo>
                    <a:pt x="15709" y="1340446"/>
                  </a:lnTo>
                  <a:lnTo>
                    <a:pt x="55422" y="1361668"/>
                  </a:lnTo>
                  <a:lnTo>
                    <a:pt x="59575" y="1362075"/>
                  </a:lnTo>
                  <a:lnTo>
                    <a:pt x="76200" y="13620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270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5169496" y="3573462"/>
            <a:ext cx="499681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>
                <a:solidFill>
                  <a:srgbClr val="2B3440"/>
                </a:solidFill>
                <a:latin typeface="Verdana"/>
                <a:cs typeface="Verdana"/>
              </a:rPr>
              <a:t>Manual</a:t>
            </a:r>
            <a:r>
              <a:rPr dirty="0" sz="1650" spc="-17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Errors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Reliance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on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manual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data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handling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introduces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errors,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delays,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B3440"/>
                </a:solidFill>
                <a:latin typeface="Verdana"/>
                <a:cs typeface="Verdana"/>
              </a:rPr>
              <a:t>and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inefficiencies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2B3440"/>
                </a:solidFill>
                <a:latin typeface="Verdana"/>
                <a:cs typeface="Verdana"/>
              </a:rPr>
              <a:t>administrators.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05375" y="4933950"/>
            <a:ext cx="5886450" cy="1362075"/>
            <a:chOff x="4905375" y="4933950"/>
            <a:chExt cx="5886450" cy="1362075"/>
          </a:xfrm>
        </p:grpSpPr>
        <p:sp>
          <p:nvSpPr>
            <p:cNvPr id="16" name="object 16" descr=""/>
            <p:cNvSpPr/>
            <p:nvPr/>
          </p:nvSpPr>
          <p:spPr>
            <a:xfrm>
              <a:off x="4924425" y="4943475"/>
              <a:ext cx="5857875" cy="1343025"/>
            </a:xfrm>
            <a:custGeom>
              <a:avLst/>
              <a:gdLst/>
              <a:ahLst/>
              <a:cxnLst/>
              <a:rect l="l" t="t" r="r" b="b"/>
              <a:pathLst>
                <a:path w="5857875" h="1343025">
                  <a:moveTo>
                    <a:pt x="5807202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76350"/>
                  </a:lnTo>
                  <a:lnTo>
                    <a:pt x="0" y="1280731"/>
                  </a:lnTo>
                  <a:lnTo>
                    <a:pt x="15621" y="1317028"/>
                  </a:lnTo>
                  <a:lnTo>
                    <a:pt x="51663" y="1339621"/>
                  </a:lnTo>
                  <a:lnTo>
                    <a:pt x="71196" y="1343025"/>
                  </a:lnTo>
                  <a:lnTo>
                    <a:pt x="5807202" y="1343025"/>
                  </a:lnTo>
                  <a:lnTo>
                    <a:pt x="5844501" y="1324622"/>
                  </a:lnTo>
                  <a:lnTo>
                    <a:pt x="5857875" y="1292352"/>
                  </a:lnTo>
                  <a:lnTo>
                    <a:pt x="5857875" y="50673"/>
                  </a:lnTo>
                  <a:lnTo>
                    <a:pt x="5839472" y="13360"/>
                  </a:lnTo>
                  <a:lnTo>
                    <a:pt x="5810732" y="342"/>
                  </a:lnTo>
                  <a:lnTo>
                    <a:pt x="580720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4925263" y="4933962"/>
              <a:ext cx="5866765" cy="1362075"/>
            </a:xfrm>
            <a:custGeom>
              <a:avLst/>
              <a:gdLst/>
              <a:ahLst/>
              <a:cxnLst/>
              <a:rect l="l" t="t" r="r" b="b"/>
              <a:pathLst>
                <a:path w="5866765" h="1362075">
                  <a:moveTo>
                    <a:pt x="5866460" y="54825"/>
                  </a:moveTo>
                  <a:lnTo>
                    <a:pt x="5864923" y="47167"/>
                  </a:lnTo>
                  <a:lnTo>
                    <a:pt x="5858459" y="31546"/>
                  </a:lnTo>
                  <a:lnTo>
                    <a:pt x="5853849" y="24650"/>
                  </a:lnTo>
                  <a:lnTo>
                    <a:pt x="5848350" y="19151"/>
                  </a:lnTo>
                  <a:lnTo>
                    <a:pt x="5847880" y="18669"/>
                  </a:lnTo>
                  <a:lnTo>
                    <a:pt x="5841898" y="12700"/>
                  </a:lnTo>
                  <a:lnTo>
                    <a:pt x="5835002" y="8089"/>
                  </a:lnTo>
                  <a:lnTo>
                    <a:pt x="5819381" y="1612"/>
                  </a:lnTo>
                  <a:lnTo>
                    <a:pt x="581124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32"/>
                  </a:lnTo>
                  <a:lnTo>
                    <a:pt x="46189" y="23393"/>
                  </a:lnTo>
                  <a:lnTo>
                    <a:pt x="72542" y="19151"/>
                  </a:lnTo>
                  <a:lnTo>
                    <a:pt x="5803912" y="19151"/>
                  </a:lnTo>
                  <a:lnTo>
                    <a:pt x="5840133" y="39027"/>
                  </a:lnTo>
                  <a:lnTo>
                    <a:pt x="5847499" y="63754"/>
                  </a:lnTo>
                  <a:lnTo>
                    <a:pt x="5847499" y="1298321"/>
                  </a:lnTo>
                  <a:lnTo>
                    <a:pt x="5846724" y="1306766"/>
                  </a:lnTo>
                  <a:lnTo>
                    <a:pt x="5846686" y="1307236"/>
                  </a:lnTo>
                  <a:lnTo>
                    <a:pt x="5844235" y="1315478"/>
                  </a:lnTo>
                  <a:lnTo>
                    <a:pt x="5840133" y="1323035"/>
                  </a:lnTo>
                  <a:lnTo>
                    <a:pt x="5834837" y="1329410"/>
                  </a:lnTo>
                  <a:lnTo>
                    <a:pt x="5834405" y="1329931"/>
                  </a:lnTo>
                  <a:lnTo>
                    <a:pt x="5827522" y="1335646"/>
                  </a:lnTo>
                  <a:lnTo>
                    <a:pt x="5819927" y="1339761"/>
                  </a:lnTo>
                  <a:lnTo>
                    <a:pt x="5811723" y="1342199"/>
                  </a:lnTo>
                  <a:lnTo>
                    <a:pt x="5802795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79" y="1300746"/>
                  </a:lnTo>
                  <a:lnTo>
                    <a:pt x="0" y="1296644"/>
                  </a:lnTo>
                  <a:lnTo>
                    <a:pt x="609" y="1300746"/>
                  </a:lnTo>
                  <a:lnTo>
                    <a:pt x="21463" y="1339761"/>
                  </a:lnTo>
                  <a:lnTo>
                    <a:pt x="60490" y="1360614"/>
                  </a:lnTo>
                  <a:lnTo>
                    <a:pt x="75349" y="1362075"/>
                  </a:lnTo>
                  <a:lnTo>
                    <a:pt x="5811240" y="1362075"/>
                  </a:lnTo>
                  <a:lnTo>
                    <a:pt x="5819381" y="1360449"/>
                  </a:lnTo>
                  <a:lnTo>
                    <a:pt x="5835002" y="1353985"/>
                  </a:lnTo>
                  <a:lnTo>
                    <a:pt x="5841898" y="1349375"/>
                  </a:lnTo>
                  <a:lnTo>
                    <a:pt x="5847880" y="1343393"/>
                  </a:lnTo>
                  <a:lnTo>
                    <a:pt x="5848248" y="1343025"/>
                  </a:lnTo>
                  <a:lnTo>
                    <a:pt x="5848451" y="1343025"/>
                  </a:lnTo>
                  <a:lnTo>
                    <a:pt x="5853849" y="1337424"/>
                  </a:lnTo>
                  <a:lnTo>
                    <a:pt x="5858459" y="1330528"/>
                  </a:lnTo>
                  <a:lnTo>
                    <a:pt x="5864872" y="1315034"/>
                  </a:lnTo>
                  <a:lnTo>
                    <a:pt x="5866460" y="1307236"/>
                  </a:lnTo>
                  <a:lnTo>
                    <a:pt x="5866460" y="54825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8" name="object 18" descr=""/>
            <p:cNvSpPr/>
            <p:nvPr/>
          </p:nvSpPr>
          <p:spPr>
            <a:xfrm>
              <a:off x="4905375" y="4933950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9575" y="0"/>
                  </a:lnTo>
                  <a:lnTo>
                    <a:pt x="55422" y="406"/>
                  </a:lnTo>
                  <a:lnTo>
                    <a:pt x="15709" y="21640"/>
                  </a:lnTo>
                  <a:lnTo>
                    <a:pt x="0" y="59575"/>
                  </a:lnTo>
                  <a:lnTo>
                    <a:pt x="0" y="1298321"/>
                  </a:lnTo>
                  <a:lnTo>
                    <a:pt x="0" y="1302499"/>
                  </a:lnTo>
                  <a:lnTo>
                    <a:pt x="15709" y="1340446"/>
                  </a:lnTo>
                  <a:lnTo>
                    <a:pt x="55422" y="1361668"/>
                  </a:lnTo>
                  <a:lnTo>
                    <a:pt x="59575" y="1362075"/>
                  </a:lnTo>
                  <a:lnTo>
                    <a:pt x="76200" y="1362075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270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9" name="object 19" descr=""/>
          <p:cNvSpPr txBox="1"/>
          <p:nvPr/>
        </p:nvSpPr>
        <p:spPr>
          <a:xfrm>
            <a:off x="5169496" y="5116512"/>
            <a:ext cx="501713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>
                <a:solidFill>
                  <a:srgbClr val="2B3440"/>
                </a:solidFill>
                <a:latin typeface="Verdana"/>
                <a:cs typeface="Verdana"/>
              </a:rPr>
              <a:t>Lack</a:t>
            </a:r>
            <a:r>
              <a:rPr dirty="0" sz="1650" spc="-21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B3440"/>
                </a:solidFill>
                <a:latin typeface="Verdana"/>
                <a:cs typeface="Verdana"/>
              </a:rPr>
              <a:t>of</a:t>
            </a:r>
            <a:r>
              <a:rPr dirty="0" sz="1650" spc="-21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Visibility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Users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lack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real-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time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updates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on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their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application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status,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B3440"/>
                </a:solidFill>
                <a:latin typeface="Verdana"/>
                <a:cs typeface="Verdana"/>
              </a:rPr>
              <a:t>creating </a:t>
            </a:r>
            <a:r>
              <a:rPr dirty="0" sz="1400" spc="-125">
                <a:solidFill>
                  <a:srgbClr val="2B3440"/>
                </a:solidFill>
                <a:latin typeface="Verdana"/>
                <a:cs typeface="Verdana"/>
              </a:rPr>
              <a:t>anxiety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increasing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support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queries.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4905375" y="6477000"/>
            <a:ext cx="5886450" cy="1362075"/>
            <a:chOff x="4905375" y="6477000"/>
            <a:chExt cx="5886450" cy="1362075"/>
          </a:xfrm>
        </p:grpSpPr>
        <p:sp>
          <p:nvSpPr>
            <p:cNvPr id="21" name="object 21" descr=""/>
            <p:cNvSpPr/>
            <p:nvPr/>
          </p:nvSpPr>
          <p:spPr>
            <a:xfrm>
              <a:off x="4924425" y="6486525"/>
              <a:ext cx="5857875" cy="1343025"/>
            </a:xfrm>
            <a:custGeom>
              <a:avLst/>
              <a:gdLst/>
              <a:ahLst/>
              <a:cxnLst/>
              <a:rect l="l" t="t" r="r" b="b"/>
              <a:pathLst>
                <a:path w="5857875" h="1343025">
                  <a:moveTo>
                    <a:pt x="5807202" y="0"/>
                  </a:moveTo>
                  <a:lnTo>
                    <a:pt x="71196" y="0"/>
                  </a:lnTo>
                  <a:lnTo>
                    <a:pt x="66243" y="431"/>
                  </a:lnTo>
                  <a:lnTo>
                    <a:pt x="29705" y="13665"/>
                  </a:lnTo>
                  <a:lnTo>
                    <a:pt x="3886" y="45199"/>
                  </a:lnTo>
                  <a:lnTo>
                    <a:pt x="0" y="62293"/>
                  </a:lnTo>
                  <a:lnTo>
                    <a:pt x="0" y="1276351"/>
                  </a:lnTo>
                  <a:lnTo>
                    <a:pt x="0" y="1280726"/>
                  </a:lnTo>
                  <a:lnTo>
                    <a:pt x="15621" y="1317030"/>
                  </a:lnTo>
                  <a:lnTo>
                    <a:pt x="51663" y="1339622"/>
                  </a:lnTo>
                  <a:lnTo>
                    <a:pt x="71196" y="1343021"/>
                  </a:lnTo>
                  <a:lnTo>
                    <a:pt x="5807202" y="1343021"/>
                  </a:lnTo>
                  <a:lnTo>
                    <a:pt x="5844501" y="1324621"/>
                  </a:lnTo>
                  <a:lnTo>
                    <a:pt x="5857875" y="1292349"/>
                  </a:lnTo>
                  <a:lnTo>
                    <a:pt x="5857875" y="50673"/>
                  </a:lnTo>
                  <a:lnTo>
                    <a:pt x="5839472" y="13360"/>
                  </a:lnTo>
                  <a:lnTo>
                    <a:pt x="5810732" y="342"/>
                  </a:lnTo>
                  <a:lnTo>
                    <a:pt x="580720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4925263" y="6477012"/>
              <a:ext cx="5866765" cy="1362075"/>
            </a:xfrm>
            <a:custGeom>
              <a:avLst/>
              <a:gdLst/>
              <a:ahLst/>
              <a:cxnLst/>
              <a:rect l="l" t="t" r="r" b="b"/>
              <a:pathLst>
                <a:path w="5866765" h="1362075">
                  <a:moveTo>
                    <a:pt x="5866460" y="54825"/>
                  </a:moveTo>
                  <a:lnTo>
                    <a:pt x="5864923" y="47167"/>
                  </a:lnTo>
                  <a:lnTo>
                    <a:pt x="5858459" y="31546"/>
                  </a:lnTo>
                  <a:lnTo>
                    <a:pt x="5853849" y="24650"/>
                  </a:lnTo>
                  <a:lnTo>
                    <a:pt x="5848350" y="19151"/>
                  </a:lnTo>
                  <a:lnTo>
                    <a:pt x="5847880" y="18669"/>
                  </a:lnTo>
                  <a:lnTo>
                    <a:pt x="5841898" y="12700"/>
                  </a:lnTo>
                  <a:lnTo>
                    <a:pt x="5835002" y="8089"/>
                  </a:lnTo>
                  <a:lnTo>
                    <a:pt x="5819381" y="1612"/>
                  </a:lnTo>
                  <a:lnTo>
                    <a:pt x="5811240" y="0"/>
                  </a:lnTo>
                  <a:lnTo>
                    <a:pt x="75349" y="0"/>
                  </a:lnTo>
                  <a:lnTo>
                    <a:pt x="33007" y="12827"/>
                  </a:lnTo>
                  <a:lnTo>
                    <a:pt x="4953" y="47040"/>
                  </a:lnTo>
                  <a:lnTo>
                    <a:pt x="0" y="65430"/>
                  </a:lnTo>
                  <a:lnTo>
                    <a:pt x="1079" y="61328"/>
                  </a:lnTo>
                  <a:lnTo>
                    <a:pt x="8813" y="47320"/>
                  </a:lnTo>
                  <a:lnTo>
                    <a:pt x="46189" y="23393"/>
                  </a:lnTo>
                  <a:lnTo>
                    <a:pt x="72542" y="19151"/>
                  </a:lnTo>
                  <a:lnTo>
                    <a:pt x="5803912" y="19151"/>
                  </a:lnTo>
                  <a:lnTo>
                    <a:pt x="5840133" y="39027"/>
                  </a:lnTo>
                  <a:lnTo>
                    <a:pt x="5847499" y="63754"/>
                  </a:lnTo>
                  <a:lnTo>
                    <a:pt x="5847499" y="1298308"/>
                  </a:lnTo>
                  <a:lnTo>
                    <a:pt x="5846724" y="1306766"/>
                  </a:lnTo>
                  <a:lnTo>
                    <a:pt x="5846686" y="1307236"/>
                  </a:lnTo>
                  <a:lnTo>
                    <a:pt x="5819940" y="1339748"/>
                  </a:lnTo>
                  <a:lnTo>
                    <a:pt x="5802795" y="1343025"/>
                  </a:lnTo>
                  <a:lnTo>
                    <a:pt x="75349" y="1343025"/>
                  </a:lnTo>
                  <a:lnTo>
                    <a:pt x="33007" y="1333398"/>
                  </a:lnTo>
                  <a:lnTo>
                    <a:pt x="1079" y="1300734"/>
                  </a:lnTo>
                  <a:lnTo>
                    <a:pt x="0" y="1296631"/>
                  </a:lnTo>
                  <a:lnTo>
                    <a:pt x="609" y="1300734"/>
                  </a:lnTo>
                  <a:lnTo>
                    <a:pt x="21463" y="1339748"/>
                  </a:lnTo>
                  <a:lnTo>
                    <a:pt x="60490" y="1360614"/>
                  </a:lnTo>
                  <a:lnTo>
                    <a:pt x="75349" y="1362075"/>
                  </a:lnTo>
                  <a:lnTo>
                    <a:pt x="5811215" y="1362075"/>
                  </a:lnTo>
                  <a:lnTo>
                    <a:pt x="5819381" y="1360449"/>
                  </a:lnTo>
                  <a:lnTo>
                    <a:pt x="5835002" y="1353985"/>
                  </a:lnTo>
                  <a:lnTo>
                    <a:pt x="5841898" y="1349375"/>
                  </a:lnTo>
                  <a:lnTo>
                    <a:pt x="5847880" y="1343393"/>
                  </a:lnTo>
                  <a:lnTo>
                    <a:pt x="5848248" y="1343025"/>
                  </a:lnTo>
                  <a:lnTo>
                    <a:pt x="5848451" y="1343025"/>
                  </a:lnTo>
                  <a:lnTo>
                    <a:pt x="5853849" y="1337411"/>
                  </a:lnTo>
                  <a:lnTo>
                    <a:pt x="5858459" y="1330515"/>
                  </a:lnTo>
                  <a:lnTo>
                    <a:pt x="5864872" y="1315021"/>
                  </a:lnTo>
                  <a:lnTo>
                    <a:pt x="5864923" y="1314894"/>
                  </a:lnTo>
                  <a:lnTo>
                    <a:pt x="5866460" y="1307236"/>
                  </a:lnTo>
                  <a:lnTo>
                    <a:pt x="5866460" y="54825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4905375" y="6477000"/>
              <a:ext cx="76200" cy="1362075"/>
            </a:xfrm>
            <a:custGeom>
              <a:avLst/>
              <a:gdLst/>
              <a:ahLst/>
              <a:cxnLst/>
              <a:rect l="l" t="t" r="r" b="b"/>
              <a:pathLst>
                <a:path w="76200" h="1362075">
                  <a:moveTo>
                    <a:pt x="76200" y="0"/>
                  </a:moveTo>
                  <a:lnTo>
                    <a:pt x="59575" y="0"/>
                  </a:lnTo>
                  <a:lnTo>
                    <a:pt x="55422" y="406"/>
                  </a:lnTo>
                  <a:lnTo>
                    <a:pt x="15709" y="21640"/>
                  </a:lnTo>
                  <a:lnTo>
                    <a:pt x="0" y="59575"/>
                  </a:lnTo>
                  <a:lnTo>
                    <a:pt x="0" y="1298318"/>
                  </a:lnTo>
                  <a:lnTo>
                    <a:pt x="0" y="1302505"/>
                  </a:lnTo>
                  <a:lnTo>
                    <a:pt x="15709" y="1340441"/>
                  </a:lnTo>
                  <a:lnTo>
                    <a:pt x="55422" y="1361664"/>
                  </a:lnTo>
                  <a:lnTo>
                    <a:pt x="59575" y="1362076"/>
                  </a:lnTo>
                  <a:lnTo>
                    <a:pt x="76200" y="1362076"/>
                  </a:lnTo>
                  <a:lnTo>
                    <a:pt x="76200" y="0"/>
                  </a:lnTo>
                  <a:close/>
                </a:path>
              </a:pathLst>
            </a:custGeom>
            <a:solidFill>
              <a:srgbClr val="3270A4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5169496" y="6659562"/>
            <a:ext cx="4982845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0">
                <a:solidFill>
                  <a:srgbClr val="2B3440"/>
                </a:solidFill>
                <a:latin typeface="Verdana"/>
                <a:cs typeface="Verdana"/>
              </a:rPr>
              <a:t>Poor</a:t>
            </a:r>
            <a:r>
              <a:rPr dirty="0" sz="1650" spc="-19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User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Experience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8400"/>
              </a:lnSpc>
              <a:spcBef>
                <a:spcPts val="625"/>
              </a:spcBef>
            </a:pP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Inconsistent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experiences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across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devices</a:t>
            </a:r>
            <a:r>
              <a:rPr dirty="0" sz="1400" spc="-14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deter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engagement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B3440"/>
                </a:solidFill>
                <a:latin typeface="Verdana"/>
                <a:cs typeface="Verdana"/>
              </a:rPr>
              <a:t>and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reflect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poorly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on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the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institution.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25" name="object 25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7831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10744200"/>
          </a:xfrm>
          <a:custGeom>
            <a:avLst/>
            <a:gdLst/>
            <a:ahLst/>
            <a:cxnLst/>
            <a:rect l="l" t="t" r="r" b="b"/>
            <a:pathLst>
              <a:path w="11430000" h="10744200">
                <a:moveTo>
                  <a:pt x="11430000" y="0"/>
                </a:moveTo>
                <a:lnTo>
                  <a:pt x="0" y="0"/>
                </a:lnTo>
                <a:lnTo>
                  <a:pt x="0" y="10744200"/>
                </a:lnTo>
                <a:lnTo>
                  <a:pt x="11430000" y="107442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879" y="492125"/>
            <a:ext cx="966279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/>
              <a:t>Our</a:t>
            </a:r>
            <a:r>
              <a:rPr dirty="0" spc="-355"/>
              <a:t> </a:t>
            </a:r>
            <a:r>
              <a:rPr dirty="0" spc="-175"/>
              <a:t>Solution:</a:t>
            </a:r>
            <a:r>
              <a:rPr dirty="0" spc="-355"/>
              <a:t> </a:t>
            </a:r>
            <a:r>
              <a:rPr dirty="0" spc="-135"/>
              <a:t>Streamlined</a:t>
            </a:r>
            <a:r>
              <a:rPr dirty="0" spc="-350"/>
              <a:t> </a:t>
            </a:r>
            <a:r>
              <a:rPr dirty="0" spc="-120"/>
              <a:t>Enrollment</a:t>
            </a:r>
            <a:r>
              <a:rPr dirty="0" spc="-355"/>
              <a:t> </a:t>
            </a:r>
            <a:r>
              <a:rPr dirty="0" spc="-55"/>
              <a:t>Excellence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24879" y="1414907"/>
            <a:ext cx="7414259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EMBRACE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offers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modern,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intuitive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platform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designed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revolutionise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the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2B3440"/>
                </a:solidFill>
                <a:latin typeface="Verdana"/>
                <a:cs typeface="Verdana"/>
              </a:rPr>
              <a:t>process.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38175" y="1904999"/>
            <a:ext cx="4981575" cy="1343025"/>
            <a:chOff x="638175" y="1904999"/>
            <a:chExt cx="4981575" cy="1343025"/>
          </a:xfrm>
        </p:grpSpPr>
        <p:sp>
          <p:nvSpPr>
            <p:cNvPr id="6" name="object 6" descr=""/>
            <p:cNvSpPr/>
            <p:nvPr/>
          </p:nvSpPr>
          <p:spPr>
            <a:xfrm>
              <a:off x="642937" y="1909762"/>
              <a:ext cx="4972050" cy="1333500"/>
            </a:xfrm>
            <a:custGeom>
              <a:avLst/>
              <a:gdLst/>
              <a:ahLst/>
              <a:cxnLst/>
              <a:rect l="l" t="t" r="r" b="b"/>
              <a:pathLst>
                <a:path w="4972050" h="1333500">
                  <a:moveTo>
                    <a:pt x="4972050" y="0"/>
                  </a:moveTo>
                  <a:lnTo>
                    <a:pt x="359568" y="0"/>
                  </a:lnTo>
                  <a:lnTo>
                    <a:pt x="350741" y="107"/>
                  </a:lnTo>
                  <a:lnTo>
                    <a:pt x="306808" y="3889"/>
                  </a:lnTo>
                  <a:lnTo>
                    <a:pt x="263670" y="13023"/>
                  </a:lnTo>
                  <a:lnTo>
                    <a:pt x="221966" y="27368"/>
                  </a:lnTo>
                  <a:lnTo>
                    <a:pt x="182335" y="46711"/>
                  </a:lnTo>
                  <a:lnTo>
                    <a:pt x="145374" y="70759"/>
                  </a:lnTo>
                  <a:lnTo>
                    <a:pt x="111632" y="99153"/>
                  </a:lnTo>
                  <a:lnTo>
                    <a:pt x="81617" y="131457"/>
                  </a:lnTo>
                  <a:lnTo>
                    <a:pt x="55783" y="167202"/>
                  </a:lnTo>
                  <a:lnTo>
                    <a:pt x="34522" y="205833"/>
                  </a:lnTo>
                  <a:lnTo>
                    <a:pt x="18148" y="246773"/>
                  </a:lnTo>
                  <a:lnTo>
                    <a:pt x="6910" y="289420"/>
                  </a:lnTo>
                  <a:lnTo>
                    <a:pt x="972" y="333116"/>
                  </a:lnTo>
                  <a:lnTo>
                    <a:pt x="0" y="359562"/>
                  </a:lnTo>
                  <a:lnTo>
                    <a:pt x="0" y="1333500"/>
                  </a:lnTo>
                  <a:lnTo>
                    <a:pt x="4612487" y="1333500"/>
                  </a:lnTo>
                  <a:lnTo>
                    <a:pt x="4621312" y="1333392"/>
                  </a:lnTo>
                  <a:lnTo>
                    <a:pt x="4665246" y="1329610"/>
                  </a:lnTo>
                  <a:lnTo>
                    <a:pt x="4708379" y="1320476"/>
                  </a:lnTo>
                  <a:lnTo>
                    <a:pt x="4750079" y="1306131"/>
                  </a:lnTo>
                  <a:lnTo>
                    <a:pt x="4789716" y="1286786"/>
                  </a:lnTo>
                  <a:lnTo>
                    <a:pt x="4826676" y="1262740"/>
                  </a:lnTo>
                  <a:lnTo>
                    <a:pt x="4860416" y="1234346"/>
                  </a:lnTo>
                  <a:lnTo>
                    <a:pt x="4890427" y="1202042"/>
                  </a:lnTo>
                  <a:lnTo>
                    <a:pt x="4916270" y="1166297"/>
                  </a:lnTo>
                  <a:lnTo>
                    <a:pt x="4937528" y="1127666"/>
                  </a:lnTo>
                  <a:lnTo>
                    <a:pt x="4953904" y="1086720"/>
                  </a:lnTo>
                  <a:lnTo>
                    <a:pt x="4965141" y="1044079"/>
                  </a:lnTo>
                  <a:lnTo>
                    <a:pt x="4971080" y="1000378"/>
                  </a:lnTo>
                  <a:lnTo>
                    <a:pt x="4972050" y="973924"/>
                  </a:lnTo>
                  <a:lnTo>
                    <a:pt x="4972050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42937" y="1909762"/>
              <a:ext cx="4972050" cy="1333500"/>
            </a:xfrm>
            <a:custGeom>
              <a:avLst/>
              <a:gdLst/>
              <a:ahLst/>
              <a:cxnLst/>
              <a:rect l="l" t="t" r="r" b="b"/>
              <a:pathLst>
                <a:path w="4972050" h="1333500">
                  <a:moveTo>
                    <a:pt x="0" y="1333500"/>
                  </a:moveTo>
                  <a:lnTo>
                    <a:pt x="0" y="359562"/>
                  </a:lnTo>
                  <a:lnTo>
                    <a:pt x="107" y="350737"/>
                  </a:lnTo>
                  <a:lnTo>
                    <a:pt x="3892" y="306803"/>
                  </a:lnTo>
                  <a:lnTo>
                    <a:pt x="13024" y="263670"/>
                  </a:lnTo>
                  <a:lnTo>
                    <a:pt x="27369" y="221970"/>
                  </a:lnTo>
                  <a:lnTo>
                    <a:pt x="46712" y="182333"/>
                  </a:lnTo>
                  <a:lnTo>
                    <a:pt x="70759" y="145373"/>
                  </a:lnTo>
                  <a:lnTo>
                    <a:pt x="99149" y="111633"/>
                  </a:lnTo>
                  <a:lnTo>
                    <a:pt x="131460" y="81622"/>
                  </a:lnTo>
                  <a:lnTo>
                    <a:pt x="167201" y="55779"/>
                  </a:lnTo>
                  <a:lnTo>
                    <a:pt x="205833" y="34521"/>
                  </a:lnTo>
                  <a:lnTo>
                    <a:pt x="246776" y="18145"/>
                  </a:lnTo>
                  <a:lnTo>
                    <a:pt x="289421" y="6908"/>
                  </a:lnTo>
                  <a:lnTo>
                    <a:pt x="333120" y="969"/>
                  </a:lnTo>
                  <a:lnTo>
                    <a:pt x="359568" y="0"/>
                  </a:lnTo>
                  <a:lnTo>
                    <a:pt x="4972050" y="0"/>
                  </a:lnTo>
                  <a:lnTo>
                    <a:pt x="4972050" y="973924"/>
                  </a:lnTo>
                  <a:lnTo>
                    <a:pt x="4971942" y="982756"/>
                  </a:lnTo>
                  <a:lnTo>
                    <a:pt x="4968160" y="1026695"/>
                  </a:lnTo>
                  <a:lnTo>
                    <a:pt x="4959026" y="1069829"/>
                  </a:lnTo>
                  <a:lnTo>
                    <a:pt x="4944681" y="1111529"/>
                  </a:lnTo>
                  <a:lnTo>
                    <a:pt x="4925338" y="1151166"/>
                  </a:lnTo>
                  <a:lnTo>
                    <a:pt x="4901290" y="1188126"/>
                  </a:lnTo>
                  <a:lnTo>
                    <a:pt x="4872896" y="1221866"/>
                  </a:lnTo>
                  <a:lnTo>
                    <a:pt x="4840592" y="1251877"/>
                  </a:lnTo>
                  <a:lnTo>
                    <a:pt x="4804847" y="1277715"/>
                  </a:lnTo>
                  <a:lnTo>
                    <a:pt x="4766216" y="1298978"/>
                  </a:lnTo>
                  <a:lnTo>
                    <a:pt x="4725271" y="1315354"/>
                  </a:lnTo>
                  <a:lnTo>
                    <a:pt x="4682629" y="1326591"/>
                  </a:lnTo>
                  <a:lnTo>
                    <a:pt x="4638933" y="1332530"/>
                  </a:lnTo>
                  <a:lnTo>
                    <a:pt x="4612487" y="1333500"/>
                  </a:lnTo>
                  <a:lnTo>
                    <a:pt x="0" y="1333500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816570" y="2078037"/>
            <a:ext cx="407035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5">
                <a:solidFill>
                  <a:srgbClr val="2B3440"/>
                </a:solidFill>
                <a:latin typeface="Verdana"/>
                <a:cs typeface="Verdana"/>
              </a:rPr>
              <a:t>Intuitive</a:t>
            </a:r>
            <a:r>
              <a:rPr dirty="0" sz="1650" spc="-18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Design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user-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friendly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interface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that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simplifies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2B3440"/>
                </a:solidFill>
                <a:latin typeface="Verdana"/>
                <a:cs typeface="Verdana"/>
              </a:rPr>
              <a:t>every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step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B3440"/>
                </a:solidFill>
                <a:latin typeface="Verdana"/>
                <a:cs typeface="Verdana"/>
              </a:rPr>
              <a:t>of </a:t>
            </a:r>
            <a:r>
              <a:rPr dirty="0" sz="1400" spc="-20">
                <a:solidFill>
                  <a:srgbClr val="2B3440"/>
                </a:solidFill>
                <a:latin typeface="Verdana"/>
                <a:cs typeface="Verdana"/>
              </a:rPr>
              <a:t>enrollment.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9" name="object 9" descr=""/>
          <p:cNvGrpSpPr/>
          <p:nvPr/>
        </p:nvGrpSpPr>
        <p:grpSpPr>
          <a:xfrm>
            <a:off x="5810250" y="1904999"/>
            <a:ext cx="4981575" cy="1343025"/>
            <a:chOff x="5810250" y="1904999"/>
            <a:chExt cx="4981575" cy="1343025"/>
          </a:xfrm>
        </p:grpSpPr>
        <p:sp>
          <p:nvSpPr>
            <p:cNvPr id="10" name="object 10" descr=""/>
            <p:cNvSpPr/>
            <p:nvPr/>
          </p:nvSpPr>
          <p:spPr>
            <a:xfrm>
              <a:off x="5815012" y="1909762"/>
              <a:ext cx="4972050" cy="1333500"/>
            </a:xfrm>
            <a:custGeom>
              <a:avLst/>
              <a:gdLst/>
              <a:ahLst/>
              <a:cxnLst/>
              <a:rect l="l" t="t" r="r" b="b"/>
              <a:pathLst>
                <a:path w="4972050" h="1333500">
                  <a:moveTo>
                    <a:pt x="4972050" y="0"/>
                  </a:moveTo>
                  <a:lnTo>
                    <a:pt x="359575" y="0"/>
                  </a:lnTo>
                  <a:lnTo>
                    <a:pt x="350743" y="107"/>
                  </a:lnTo>
                  <a:lnTo>
                    <a:pt x="306805" y="3889"/>
                  </a:lnTo>
                  <a:lnTo>
                    <a:pt x="263670" y="13023"/>
                  </a:lnTo>
                  <a:lnTo>
                    <a:pt x="221970" y="27368"/>
                  </a:lnTo>
                  <a:lnTo>
                    <a:pt x="182333" y="46711"/>
                  </a:lnTo>
                  <a:lnTo>
                    <a:pt x="145373" y="70759"/>
                  </a:lnTo>
                  <a:lnTo>
                    <a:pt x="111633" y="99153"/>
                  </a:lnTo>
                  <a:lnTo>
                    <a:pt x="81622" y="131457"/>
                  </a:lnTo>
                  <a:lnTo>
                    <a:pt x="55779" y="167202"/>
                  </a:lnTo>
                  <a:lnTo>
                    <a:pt x="34521" y="205833"/>
                  </a:lnTo>
                  <a:lnTo>
                    <a:pt x="18145" y="246773"/>
                  </a:lnTo>
                  <a:lnTo>
                    <a:pt x="6908" y="289420"/>
                  </a:lnTo>
                  <a:lnTo>
                    <a:pt x="969" y="333116"/>
                  </a:lnTo>
                  <a:lnTo>
                    <a:pt x="0" y="359562"/>
                  </a:lnTo>
                  <a:lnTo>
                    <a:pt x="0" y="1333500"/>
                  </a:lnTo>
                  <a:lnTo>
                    <a:pt x="4612487" y="1333500"/>
                  </a:lnTo>
                  <a:lnTo>
                    <a:pt x="4621312" y="1333392"/>
                  </a:lnTo>
                  <a:lnTo>
                    <a:pt x="4665246" y="1329610"/>
                  </a:lnTo>
                  <a:lnTo>
                    <a:pt x="4708379" y="1320476"/>
                  </a:lnTo>
                  <a:lnTo>
                    <a:pt x="4750079" y="1306131"/>
                  </a:lnTo>
                  <a:lnTo>
                    <a:pt x="4789716" y="1286786"/>
                  </a:lnTo>
                  <a:lnTo>
                    <a:pt x="4826674" y="1262740"/>
                  </a:lnTo>
                  <a:lnTo>
                    <a:pt x="4860414" y="1234346"/>
                  </a:lnTo>
                  <a:lnTo>
                    <a:pt x="4890427" y="1202042"/>
                  </a:lnTo>
                  <a:lnTo>
                    <a:pt x="4916265" y="1166297"/>
                  </a:lnTo>
                  <a:lnTo>
                    <a:pt x="4937528" y="1127666"/>
                  </a:lnTo>
                  <a:lnTo>
                    <a:pt x="4953904" y="1086720"/>
                  </a:lnTo>
                  <a:lnTo>
                    <a:pt x="4965141" y="1044079"/>
                  </a:lnTo>
                  <a:lnTo>
                    <a:pt x="4971080" y="1000378"/>
                  </a:lnTo>
                  <a:lnTo>
                    <a:pt x="4972050" y="973924"/>
                  </a:lnTo>
                  <a:lnTo>
                    <a:pt x="4972050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5815012" y="1909762"/>
              <a:ext cx="4972050" cy="1333500"/>
            </a:xfrm>
            <a:custGeom>
              <a:avLst/>
              <a:gdLst/>
              <a:ahLst/>
              <a:cxnLst/>
              <a:rect l="l" t="t" r="r" b="b"/>
              <a:pathLst>
                <a:path w="4972050" h="1333500">
                  <a:moveTo>
                    <a:pt x="0" y="1333500"/>
                  </a:moveTo>
                  <a:lnTo>
                    <a:pt x="0" y="359562"/>
                  </a:lnTo>
                  <a:lnTo>
                    <a:pt x="107" y="350737"/>
                  </a:lnTo>
                  <a:lnTo>
                    <a:pt x="3889" y="306803"/>
                  </a:lnTo>
                  <a:lnTo>
                    <a:pt x="13023" y="263670"/>
                  </a:lnTo>
                  <a:lnTo>
                    <a:pt x="27368" y="221970"/>
                  </a:lnTo>
                  <a:lnTo>
                    <a:pt x="46711" y="182333"/>
                  </a:lnTo>
                  <a:lnTo>
                    <a:pt x="70759" y="145373"/>
                  </a:lnTo>
                  <a:lnTo>
                    <a:pt x="99153" y="111633"/>
                  </a:lnTo>
                  <a:lnTo>
                    <a:pt x="131457" y="81622"/>
                  </a:lnTo>
                  <a:lnTo>
                    <a:pt x="167202" y="55779"/>
                  </a:lnTo>
                  <a:lnTo>
                    <a:pt x="205833" y="34521"/>
                  </a:lnTo>
                  <a:lnTo>
                    <a:pt x="246779" y="18145"/>
                  </a:lnTo>
                  <a:lnTo>
                    <a:pt x="289420" y="6908"/>
                  </a:lnTo>
                  <a:lnTo>
                    <a:pt x="333121" y="969"/>
                  </a:lnTo>
                  <a:lnTo>
                    <a:pt x="359575" y="0"/>
                  </a:lnTo>
                  <a:lnTo>
                    <a:pt x="4972050" y="0"/>
                  </a:lnTo>
                  <a:lnTo>
                    <a:pt x="4972050" y="973924"/>
                  </a:lnTo>
                  <a:lnTo>
                    <a:pt x="4971942" y="982756"/>
                  </a:lnTo>
                  <a:lnTo>
                    <a:pt x="4968160" y="1026695"/>
                  </a:lnTo>
                  <a:lnTo>
                    <a:pt x="4959026" y="1069829"/>
                  </a:lnTo>
                  <a:lnTo>
                    <a:pt x="4944681" y="1111529"/>
                  </a:lnTo>
                  <a:lnTo>
                    <a:pt x="4925336" y="1151166"/>
                  </a:lnTo>
                  <a:lnTo>
                    <a:pt x="4901285" y="1188126"/>
                  </a:lnTo>
                  <a:lnTo>
                    <a:pt x="4872896" y="1221866"/>
                  </a:lnTo>
                  <a:lnTo>
                    <a:pt x="4840579" y="1251877"/>
                  </a:lnTo>
                  <a:lnTo>
                    <a:pt x="4804847" y="1277715"/>
                  </a:lnTo>
                  <a:lnTo>
                    <a:pt x="4766216" y="1298978"/>
                  </a:lnTo>
                  <a:lnTo>
                    <a:pt x="4725271" y="1315354"/>
                  </a:lnTo>
                  <a:lnTo>
                    <a:pt x="4682629" y="1326591"/>
                  </a:lnTo>
                  <a:lnTo>
                    <a:pt x="4638933" y="1332530"/>
                  </a:lnTo>
                  <a:lnTo>
                    <a:pt x="4612487" y="1333500"/>
                  </a:lnTo>
                  <a:lnTo>
                    <a:pt x="0" y="1333500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5985078" y="2078037"/>
            <a:ext cx="433959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95">
                <a:solidFill>
                  <a:srgbClr val="2B3440"/>
                </a:solidFill>
                <a:latin typeface="Verdana"/>
                <a:cs typeface="Verdana"/>
              </a:rPr>
              <a:t>Cross-</a:t>
            </a:r>
            <a:r>
              <a:rPr dirty="0" sz="1650" spc="-70">
                <a:solidFill>
                  <a:srgbClr val="2B3440"/>
                </a:solidFill>
                <a:latin typeface="Verdana"/>
                <a:cs typeface="Verdana"/>
              </a:rPr>
              <a:t>Device</a:t>
            </a:r>
            <a:r>
              <a:rPr dirty="0" sz="165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Accessibility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Seamless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experience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across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mobile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web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platforms,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catering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all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users.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638175" y="3429000"/>
            <a:ext cx="4981575" cy="1343025"/>
            <a:chOff x="638175" y="3429000"/>
            <a:chExt cx="4981575" cy="1343025"/>
          </a:xfrm>
        </p:grpSpPr>
        <p:sp>
          <p:nvSpPr>
            <p:cNvPr id="14" name="object 14" descr=""/>
            <p:cNvSpPr/>
            <p:nvPr/>
          </p:nvSpPr>
          <p:spPr>
            <a:xfrm>
              <a:off x="642937" y="3433762"/>
              <a:ext cx="4972050" cy="1333500"/>
            </a:xfrm>
            <a:custGeom>
              <a:avLst/>
              <a:gdLst/>
              <a:ahLst/>
              <a:cxnLst/>
              <a:rect l="l" t="t" r="r" b="b"/>
              <a:pathLst>
                <a:path w="4972050" h="1333500">
                  <a:moveTo>
                    <a:pt x="4972050" y="0"/>
                  </a:moveTo>
                  <a:lnTo>
                    <a:pt x="359568" y="0"/>
                  </a:lnTo>
                  <a:lnTo>
                    <a:pt x="350741" y="107"/>
                  </a:lnTo>
                  <a:lnTo>
                    <a:pt x="306808" y="3889"/>
                  </a:lnTo>
                  <a:lnTo>
                    <a:pt x="263670" y="13023"/>
                  </a:lnTo>
                  <a:lnTo>
                    <a:pt x="221966" y="27368"/>
                  </a:lnTo>
                  <a:lnTo>
                    <a:pt x="182335" y="46711"/>
                  </a:lnTo>
                  <a:lnTo>
                    <a:pt x="145374" y="70759"/>
                  </a:lnTo>
                  <a:lnTo>
                    <a:pt x="111632" y="99153"/>
                  </a:lnTo>
                  <a:lnTo>
                    <a:pt x="81617" y="131457"/>
                  </a:lnTo>
                  <a:lnTo>
                    <a:pt x="55783" y="167202"/>
                  </a:lnTo>
                  <a:lnTo>
                    <a:pt x="34522" y="205833"/>
                  </a:lnTo>
                  <a:lnTo>
                    <a:pt x="18148" y="246773"/>
                  </a:lnTo>
                  <a:lnTo>
                    <a:pt x="6910" y="289420"/>
                  </a:lnTo>
                  <a:lnTo>
                    <a:pt x="972" y="333116"/>
                  </a:lnTo>
                  <a:lnTo>
                    <a:pt x="0" y="359562"/>
                  </a:lnTo>
                  <a:lnTo>
                    <a:pt x="0" y="1333500"/>
                  </a:lnTo>
                  <a:lnTo>
                    <a:pt x="4612487" y="1333500"/>
                  </a:lnTo>
                  <a:lnTo>
                    <a:pt x="4621312" y="1333392"/>
                  </a:lnTo>
                  <a:lnTo>
                    <a:pt x="4665246" y="1329610"/>
                  </a:lnTo>
                  <a:lnTo>
                    <a:pt x="4708379" y="1320476"/>
                  </a:lnTo>
                  <a:lnTo>
                    <a:pt x="4750079" y="1306131"/>
                  </a:lnTo>
                  <a:lnTo>
                    <a:pt x="4789716" y="1286788"/>
                  </a:lnTo>
                  <a:lnTo>
                    <a:pt x="4826676" y="1262740"/>
                  </a:lnTo>
                  <a:lnTo>
                    <a:pt x="4860416" y="1234346"/>
                  </a:lnTo>
                  <a:lnTo>
                    <a:pt x="4890427" y="1202042"/>
                  </a:lnTo>
                  <a:lnTo>
                    <a:pt x="4916270" y="1166297"/>
                  </a:lnTo>
                  <a:lnTo>
                    <a:pt x="4937528" y="1127666"/>
                  </a:lnTo>
                  <a:lnTo>
                    <a:pt x="4953904" y="1086720"/>
                  </a:lnTo>
                  <a:lnTo>
                    <a:pt x="4965141" y="1044079"/>
                  </a:lnTo>
                  <a:lnTo>
                    <a:pt x="4971080" y="1000378"/>
                  </a:lnTo>
                  <a:lnTo>
                    <a:pt x="4972050" y="973924"/>
                  </a:lnTo>
                  <a:lnTo>
                    <a:pt x="4972050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42937" y="3433762"/>
              <a:ext cx="4972050" cy="1333500"/>
            </a:xfrm>
            <a:custGeom>
              <a:avLst/>
              <a:gdLst/>
              <a:ahLst/>
              <a:cxnLst/>
              <a:rect l="l" t="t" r="r" b="b"/>
              <a:pathLst>
                <a:path w="4972050" h="1333500">
                  <a:moveTo>
                    <a:pt x="0" y="1333500"/>
                  </a:moveTo>
                  <a:lnTo>
                    <a:pt x="0" y="359562"/>
                  </a:lnTo>
                  <a:lnTo>
                    <a:pt x="107" y="350737"/>
                  </a:lnTo>
                  <a:lnTo>
                    <a:pt x="3892" y="306803"/>
                  </a:lnTo>
                  <a:lnTo>
                    <a:pt x="13024" y="263670"/>
                  </a:lnTo>
                  <a:lnTo>
                    <a:pt x="27369" y="221970"/>
                  </a:lnTo>
                  <a:lnTo>
                    <a:pt x="46712" y="182333"/>
                  </a:lnTo>
                  <a:lnTo>
                    <a:pt x="70759" y="145373"/>
                  </a:lnTo>
                  <a:lnTo>
                    <a:pt x="99149" y="111633"/>
                  </a:lnTo>
                  <a:lnTo>
                    <a:pt x="131460" y="81622"/>
                  </a:lnTo>
                  <a:lnTo>
                    <a:pt x="167201" y="55779"/>
                  </a:lnTo>
                  <a:lnTo>
                    <a:pt x="205833" y="34521"/>
                  </a:lnTo>
                  <a:lnTo>
                    <a:pt x="246776" y="18145"/>
                  </a:lnTo>
                  <a:lnTo>
                    <a:pt x="289421" y="6908"/>
                  </a:lnTo>
                  <a:lnTo>
                    <a:pt x="333120" y="969"/>
                  </a:lnTo>
                  <a:lnTo>
                    <a:pt x="359568" y="0"/>
                  </a:lnTo>
                  <a:lnTo>
                    <a:pt x="4972050" y="0"/>
                  </a:lnTo>
                  <a:lnTo>
                    <a:pt x="4972050" y="973924"/>
                  </a:lnTo>
                  <a:lnTo>
                    <a:pt x="4971942" y="982756"/>
                  </a:lnTo>
                  <a:lnTo>
                    <a:pt x="4968160" y="1026690"/>
                  </a:lnTo>
                  <a:lnTo>
                    <a:pt x="4959026" y="1069829"/>
                  </a:lnTo>
                  <a:lnTo>
                    <a:pt x="4944681" y="1111529"/>
                  </a:lnTo>
                  <a:lnTo>
                    <a:pt x="4925338" y="1151166"/>
                  </a:lnTo>
                  <a:lnTo>
                    <a:pt x="4901290" y="1188126"/>
                  </a:lnTo>
                  <a:lnTo>
                    <a:pt x="4872896" y="1221866"/>
                  </a:lnTo>
                  <a:lnTo>
                    <a:pt x="4840592" y="1251877"/>
                  </a:lnTo>
                  <a:lnTo>
                    <a:pt x="4804847" y="1277720"/>
                  </a:lnTo>
                  <a:lnTo>
                    <a:pt x="4766216" y="1298978"/>
                  </a:lnTo>
                  <a:lnTo>
                    <a:pt x="4725271" y="1315354"/>
                  </a:lnTo>
                  <a:lnTo>
                    <a:pt x="4682629" y="1326591"/>
                  </a:lnTo>
                  <a:lnTo>
                    <a:pt x="4638933" y="1332530"/>
                  </a:lnTo>
                  <a:lnTo>
                    <a:pt x="4612487" y="1333500"/>
                  </a:lnTo>
                  <a:lnTo>
                    <a:pt x="0" y="1333500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6" name="object 16" descr=""/>
          <p:cNvSpPr txBox="1"/>
          <p:nvPr/>
        </p:nvSpPr>
        <p:spPr>
          <a:xfrm>
            <a:off x="816570" y="3602037"/>
            <a:ext cx="4157979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>
                <a:solidFill>
                  <a:srgbClr val="2B3440"/>
                </a:solidFill>
                <a:latin typeface="Verdana"/>
                <a:cs typeface="Verdana"/>
              </a:rPr>
              <a:t>Automated</a:t>
            </a:r>
            <a:r>
              <a:rPr dirty="0" sz="1650" spc="-18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Workflows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Reduces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manual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effort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minimises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errors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2B3440"/>
                </a:solidFill>
                <a:latin typeface="Verdana"/>
                <a:cs typeface="Verdana"/>
              </a:rPr>
              <a:t>through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intelligent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B3440"/>
                </a:solidFill>
                <a:latin typeface="Verdana"/>
                <a:cs typeface="Verdana"/>
              </a:rPr>
              <a:t>automation.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7" name="object 17" descr=""/>
          <p:cNvGrpSpPr/>
          <p:nvPr/>
        </p:nvGrpSpPr>
        <p:grpSpPr>
          <a:xfrm>
            <a:off x="5810250" y="3429000"/>
            <a:ext cx="4981575" cy="1343025"/>
            <a:chOff x="5810250" y="3429000"/>
            <a:chExt cx="4981575" cy="1343025"/>
          </a:xfrm>
        </p:grpSpPr>
        <p:sp>
          <p:nvSpPr>
            <p:cNvPr id="18" name="object 18" descr=""/>
            <p:cNvSpPr/>
            <p:nvPr/>
          </p:nvSpPr>
          <p:spPr>
            <a:xfrm>
              <a:off x="5815012" y="3433762"/>
              <a:ext cx="4972050" cy="1333500"/>
            </a:xfrm>
            <a:custGeom>
              <a:avLst/>
              <a:gdLst/>
              <a:ahLst/>
              <a:cxnLst/>
              <a:rect l="l" t="t" r="r" b="b"/>
              <a:pathLst>
                <a:path w="4972050" h="1333500">
                  <a:moveTo>
                    <a:pt x="4972050" y="0"/>
                  </a:moveTo>
                  <a:lnTo>
                    <a:pt x="359575" y="0"/>
                  </a:lnTo>
                  <a:lnTo>
                    <a:pt x="350743" y="107"/>
                  </a:lnTo>
                  <a:lnTo>
                    <a:pt x="306805" y="3889"/>
                  </a:lnTo>
                  <a:lnTo>
                    <a:pt x="263670" y="13023"/>
                  </a:lnTo>
                  <a:lnTo>
                    <a:pt x="221970" y="27368"/>
                  </a:lnTo>
                  <a:lnTo>
                    <a:pt x="182333" y="46711"/>
                  </a:lnTo>
                  <a:lnTo>
                    <a:pt x="145373" y="70759"/>
                  </a:lnTo>
                  <a:lnTo>
                    <a:pt x="111633" y="99153"/>
                  </a:lnTo>
                  <a:lnTo>
                    <a:pt x="81622" y="131457"/>
                  </a:lnTo>
                  <a:lnTo>
                    <a:pt x="55779" y="167202"/>
                  </a:lnTo>
                  <a:lnTo>
                    <a:pt x="34521" y="205833"/>
                  </a:lnTo>
                  <a:lnTo>
                    <a:pt x="18145" y="246773"/>
                  </a:lnTo>
                  <a:lnTo>
                    <a:pt x="6908" y="289420"/>
                  </a:lnTo>
                  <a:lnTo>
                    <a:pt x="969" y="333116"/>
                  </a:lnTo>
                  <a:lnTo>
                    <a:pt x="0" y="359562"/>
                  </a:lnTo>
                  <a:lnTo>
                    <a:pt x="0" y="1333500"/>
                  </a:lnTo>
                  <a:lnTo>
                    <a:pt x="4612487" y="1333500"/>
                  </a:lnTo>
                  <a:lnTo>
                    <a:pt x="4621312" y="1333392"/>
                  </a:lnTo>
                  <a:lnTo>
                    <a:pt x="4665246" y="1329610"/>
                  </a:lnTo>
                  <a:lnTo>
                    <a:pt x="4708379" y="1320476"/>
                  </a:lnTo>
                  <a:lnTo>
                    <a:pt x="4750079" y="1306131"/>
                  </a:lnTo>
                  <a:lnTo>
                    <a:pt x="4789716" y="1286788"/>
                  </a:lnTo>
                  <a:lnTo>
                    <a:pt x="4826674" y="1262740"/>
                  </a:lnTo>
                  <a:lnTo>
                    <a:pt x="4860414" y="1234346"/>
                  </a:lnTo>
                  <a:lnTo>
                    <a:pt x="4890427" y="1202042"/>
                  </a:lnTo>
                  <a:lnTo>
                    <a:pt x="4916265" y="1166297"/>
                  </a:lnTo>
                  <a:lnTo>
                    <a:pt x="4937528" y="1127666"/>
                  </a:lnTo>
                  <a:lnTo>
                    <a:pt x="4953904" y="1086720"/>
                  </a:lnTo>
                  <a:lnTo>
                    <a:pt x="4965141" y="1044079"/>
                  </a:lnTo>
                  <a:lnTo>
                    <a:pt x="4971080" y="1000378"/>
                  </a:lnTo>
                  <a:lnTo>
                    <a:pt x="4972050" y="973924"/>
                  </a:lnTo>
                  <a:lnTo>
                    <a:pt x="4972050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9" name="object 19" descr=""/>
            <p:cNvSpPr/>
            <p:nvPr/>
          </p:nvSpPr>
          <p:spPr>
            <a:xfrm>
              <a:off x="5815012" y="3433762"/>
              <a:ext cx="4972050" cy="1333500"/>
            </a:xfrm>
            <a:custGeom>
              <a:avLst/>
              <a:gdLst/>
              <a:ahLst/>
              <a:cxnLst/>
              <a:rect l="l" t="t" r="r" b="b"/>
              <a:pathLst>
                <a:path w="4972050" h="1333500">
                  <a:moveTo>
                    <a:pt x="0" y="1333500"/>
                  </a:moveTo>
                  <a:lnTo>
                    <a:pt x="0" y="359562"/>
                  </a:lnTo>
                  <a:lnTo>
                    <a:pt x="107" y="350737"/>
                  </a:lnTo>
                  <a:lnTo>
                    <a:pt x="3889" y="306803"/>
                  </a:lnTo>
                  <a:lnTo>
                    <a:pt x="13023" y="263670"/>
                  </a:lnTo>
                  <a:lnTo>
                    <a:pt x="27368" y="221970"/>
                  </a:lnTo>
                  <a:lnTo>
                    <a:pt x="46711" y="182333"/>
                  </a:lnTo>
                  <a:lnTo>
                    <a:pt x="70759" y="145373"/>
                  </a:lnTo>
                  <a:lnTo>
                    <a:pt x="99153" y="111633"/>
                  </a:lnTo>
                  <a:lnTo>
                    <a:pt x="131457" y="81622"/>
                  </a:lnTo>
                  <a:lnTo>
                    <a:pt x="167202" y="55779"/>
                  </a:lnTo>
                  <a:lnTo>
                    <a:pt x="205833" y="34521"/>
                  </a:lnTo>
                  <a:lnTo>
                    <a:pt x="246779" y="18145"/>
                  </a:lnTo>
                  <a:lnTo>
                    <a:pt x="289420" y="6908"/>
                  </a:lnTo>
                  <a:lnTo>
                    <a:pt x="333121" y="969"/>
                  </a:lnTo>
                  <a:lnTo>
                    <a:pt x="359575" y="0"/>
                  </a:lnTo>
                  <a:lnTo>
                    <a:pt x="4972050" y="0"/>
                  </a:lnTo>
                  <a:lnTo>
                    <a:pt x="4972050" y="973924"/>
                  </a:lnTo>
                  <a:lnTo>
                    <a:pt x="4971942" y="982756"/>
                  </a:lnTo>
                  <a:lnTo>
                    <a:pt x="4968160" y="1026690"/>
                  </a:lnTo>
                  <a:lnTo>
                    <a:pt x="4959026" y="1069829"/>
                  </a:lnTo>
                  <a:lnTo>
                    <a:pt x="4944681" y="1111529"/>
                  </a:lnTo>
                  <a:lnTo>
                    <a:pt x="4925336" y="1151166"/>
                  </a:lnTo>
                  <a:lnTo>
                    <a:pt x="4901285" y="1188126"/>
                  </a:lnTo>
                  <a:lnTo>
                    <a:pt x="4872896" y="1221866"/>
                  </a:lnTo>
                  <a:lnTo>
                    <a:pt x="4840579" y="1251877"/>
                  </a:lnTo>
                  <a:lnTo>
                    <a:pt x="4804847" y="1277720"/>
                  </a:lnTo>
                  <a:lnTo>
                    <a:pt x="4766216" y="1298978"/>
                  </a:lnTo>
                  <a:lnTo>
                    <a:pt x="4725271" y="1315354"/>
                  </a:lnTo>
                  <a:lnTo>
                    <a:pt x="4682629" y="1326591"/>
                  </a:lnTo>
                  <a:lnTo>
                    <a:pt x="4638933" y="1332530"/>
                  </a:lnTo>
                  <a:lnTo>
                    <a:pt x="4612487" y="1333500"/>
                  </a:lnTo>
                  <a:lnTo>
                    <a:pt x="0" y="1333500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/>
          <p:nvPr/>
        </p:nvSpPr>
        <p:spPr>
          <a:xfrm>
            <a:off x="5985078" y="3602037"/>
            <a:ext cx="400367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45">
                <a:solidFill>
                  <a:srgbClr val="2B3440"/>
                </a:solidFill>
                <a:latin typeface="Verdana"/>
                <a:cs typeface="Verdana"/>
              </a:rPr>
              <a:t>Real-</a:t>
            </a: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Time</a:t>
            </a:r>
            <a:r>
              <a:rPr dirty="0" sz="1650" spc="-17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Tracking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Keeps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users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informed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with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instant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updates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on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2B3440"/>
                </a:solidFill>
                <a:latin typeface="Verdana"/>
                <a:cs typeface="Verdana"/>
              </a:rPr>
              <a:t>their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application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progress.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21" name="object 21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38175" y="5181600"/>
            <a:ext cx="4857749" cy="4857749"/>
          </a:xfrm>
          <a:prstGeom prst="rect">
            <a:avLst/>
          </a:prstGeom>
        </p:spPr>
      </p:pic>
      <p:sp>
        <p:nvSpPr>
          <p:cNvPr id="22" name="object 22" descr=""/>
          <p:cNvSpPr/>
          <p:nvPr/>
        </p:nvSpPr>
        <p:spPr>
          <a:xfrm>
            <a:off x="5981700" y="57816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B34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 descr=""/>
          <p:cNvSpPr/>
          <p:nvPr/>
        </p:nvSpPr>
        <p:spPr>
          <a:xfrm>
            <a:off x="5981700" y="614362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B34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/>
          <p:nvPr/>
        </p:nvSpPr>
        <p:spPr>
          <a:xfrm>
            <a:off x="5981700" y="6496050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B34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 descr=""/>
          <p:cNvSpPr/>
          <p:nvPr/>
        </p:nvSpPr>
        <p:spPr>
          <a:xfrm>
            <a:off x="5981700" y="6848475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32359" y="0"/>
                </a:moveTo>
                <a:lnTo>
                  <a:pt x="24790" y="0"/>
                </a:lnTo>
                <a:lnTo>
                  <a:pt x="21132" y="723"/>
                </a:lnTo>
                <a:lnTo>
                  <a:pt x="0" y="24790"/>
                </a:lnTo>
                <a:lnTo>
                  <a:pt x="0" y="32359"/>
                </a:lnTo>
                <a:lnTo>
                  <a:pt x="24790" y="57150"/>
                </a:lnTo>
                <a:lnTo>
                  <a:pt x="32359" y="57150"/>
                </a:lnTo>
                <a:lnTo>
                  <a:pt x="57150" y="32359"/>
                </a:lnTo>
                <a:lnTo>
                  <a:pt x="57150" y="28575"/>
                </a:lnTo>
                <a:lnTo>
                  <a:pt x="57150" y="24790"/>
                </a:lnTo>
                <a:lnTo>
                  <a:pt x="36004" y="723"/>
                </a:lnTo>
                <a:lnTo>
                  <a:pt x="32359" y="0"/>
                </a:lnTo>
                <a:close/>
              </a:path>
            </a:pathLst>
          </a:custGeom>
          <a:solidFill>
            <a:srgbClr val="2B344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5934024" y="5130800"/>
            <a:ext cx="3529965" cy="18529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25">
                <a:solidFill>
                  <a:srgbClr val="041D3A"/>
                </a:solidFill>
                <a:latin typeface="Verdana"/>
                <a:cs typeface="Verdana"/>
              </a:rPr>
              <a:t>Key</a:t>
            </a:r>
            <a:r>
              <a:rPr dirty="0" sz="2000" spc="-265">
                <a:solidFill>
                  <a:srgbClr val="041D3A"/>
                </a:solidFill>
                <a:latin typeface="Verdana"/>
                <a:cs typeface="Verdana"/>
              </a:rPr>
              <a:t> </a:t>
            </a:r>
            <a:r>
              <a:rPr dirty="0" sz="2000" spc="-10">
                <a:solidFill>
                  <a:srgbClr val="041D3A"/>
                </a:solidFill>
                <a:latin typeface="Verdana"/>
                <a:cs typeface="Verdana"/>
              </a:rPr>
              <a:t>Features:</a:t>
            </a:r>
            <a:endParaRPr sz="2000">
              <a:latin typeface="Verdana"/>
              <a:cs typeface="Verdana"/>
            </a:endParaRPr>
          </a:p>
          <a:p>
            <a:pPr marL="303530" marR="5080">
              <a:lnSpc>
                <a:spcPct val="166700"/>
              </a:lnSpc>
              <a:spcBef>
                <a:spcPts val="755"/>
              </a:spcBef>
            </a:pP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User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Registration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Onboarding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Dynamic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Intelligent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B3440"/>
                </a:solidFill>
                <a:latin typeface="Verdana"/>
                <a:cs typeface="Verdana"/>
              </a:rPr>
              <a:t>Forms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Comprehensive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Dashboard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Analytics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Automated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Notifications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Confirmations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27" name="object 27" descr="">
            <a:hlinkClick r:id="rId3"/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9580244" y="102298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12668250"/>
          </a:xfrm>
          <a:custGeom>
            <a:avLst/>
            <a:gdLst/>
            <a:ahLst/>
            <a:cxnLst/>
            <a:rect l="l" t="t" r="r" b="b"/>
            <a:pathLst>
              <a:path w="11430000" h="12668250">
                <a:moveTo>
                  <a:pt x="11430000" y="0"/>
                </a:moveTo>
                <a:lnTo>
                  <a:pt x="0" y="0"/>
                </a:lnTo>
                <a:lnTo>
                  <a:pt x="0" y="12668250"/>
                </a:lnTo>
                <a:lnTo>
                  <a:pt x="11430000" y="126682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75"/>
              <a:t>Who</a:t>
            </a:r>
            <a:r>
              <a:rPr dirty="0" spc="-380"/>
              <a:t> </a:t>
            </a:r>
            <a:r>
              <a:rPr dirty="0" spc="-200"/>
              <a:t>We</a:t>
            </a:r>
            <a:r>
              <a:rPr dirty="0" spc="-375"/>
              <a:t> </a:t>
            </a:r>
            <a:r>
              <a:rPr dirty="0" spc="-240"/>
              <a:t>Serve:</a:t>
            </a:r>
            <a:r>
              <a:rPr dirty="0" spc="-375"/>
              <a:t> </a:t>
            </a:r>
            <a:r>
              <a:rPr dirty="0" spc="-85"/>
              <a:t>Our</a:t>
            </a:r>
            <a:r>
              <a:rPr dirty="0" spc="-375"/>
              <a:t> </a:t>
            </a:r>
            <a:r>
              <a:rPr dirty="0" spc="-120"/>
              <a:t>Valued</a:t>
            </a:r>
            <a:r>
              <a:rPr dirty="0" spc="-380"/>
              <a:t> </a:t>
            </a:r>
            <a:r>
              <a:rPr dirty="0" spc="-35"/>
              <a:t>Users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24879" y="1414907"/>
            <a:ext cx="732599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EMBRACE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is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crafted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meet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the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diverse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needs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B3440"/>
                </a:solidFill>
                <a:latin typeface="Verdana"/>
                <a:cs typeface="Verdana"/>
              </a:rPr>
              <a:t>of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everyone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involved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in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the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journey.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5" name="object 5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928132" y="1889802"/>
            <a:ext cx="3561403" cy="3565502"/>
          </a:xfrm>
          <a:prstGeom prst="rect">
            <a:avLst/>
          </a:prstGeom>
        </p:spPr>
      </p:pic>
      <p:sp>
        <p:nvSpPr>
          <p:cNvPr id="6" name="object 6" descr=""/>
          <p:cNvSpPr txBox="1"/>
          <p:nvPr/>
        </p:nvSpPr>
        <p:spPr>
          <a:xfrm>
            <a:off x="624879" y="5816600"/>
            <a:ext cx="267462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0">
                <a:solidFill>
                  <a:srgbClr val="041D3A"/>
                </a:solidFill>
                <a:latin typeface="Verdana"/>
                <a:cs typeface="Verdana"/>
              </a:rPr>
              <a:t>Persona:</a:t>
            </a:r>
            <a:r>
              <a:rPr dirty="0" sz="2000" spc="-220">
                <a:solidFill>
                  <a:srgbClr val="041D3A"/>
                </a:solidFill>
                <a:latin typeface="Verdana"/>
                <a:cs typeface="Verdana"/>
              </a:rPr>
              <a:t> </a:t>
            </a:r>
            <a:r>
              <a:rPr dirty="0" sz="2000" spc="-65">
                <a:solidFill>
                  <a:srgbClr val="041D3A"/>
                </a:solidFill>
                <a:latin typeface="Verdana"/>
                <a:cs typeface="Verdana"/>
              </a:rPr>
              <a:t>Student</a:t>
            </a:r>
            <a:r>
              <a:rPr dirty="0" sz="2000" spc="-220">
                <a:solidFill>
                  <a:srgbClr val="041D3A"/>
                </a:solidFill>
                <a:latin typeface="Verdana"/>
                <a:cs typeface="Verdana"/>
              </a:rPr>
              <a:t> </a:t>
            </a:r>
            <a:r>
              <a:rPr dirty="0" sz="2000" spc="-30">
                <a:solidFill>
                  <a:srgbClr val="041D3A"/>
                </a:solidFill>
                <a:latin typeface="Verdana"/>
                <a:cs typeface="Verdana"/>
              </a:rPr>
              <a:t>Sam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38175" y="6362699"/>
            <a:ext cx="4857749" cy="4857749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624879" y="11377524"/>
            <a:ext cx="4476115" cy="596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90"/>
              </a:spcBef>
            </a:pP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Sam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needs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quick,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2B3440"/>
                </a:solidFill>
                <a:latin typeface="Verdana"/>
                <a:cs typeface="Verdana"/>
              </a:rPr>
              <a:t>hassle-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free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way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apply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track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B3440"/>
                </a:solidFill>
                <a:latin typeface="Verdana"/>
                <a:cs typeface="Verdana"/>
              </a:rPr>
              <a:t>his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enrollment.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He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values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clarity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mobile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B3440"/>
                </a:solidFill>
                <a:latin typeface="Verdana"/>
                <a:cs typeface="Verdana"/>
              </a:rPr>
              <a:t>accessibility.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5934024" y="5816600"/>
            <a:ext cx="2470150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100">
                <a:solidFill>
                  <a:srgbClr val="041D3A"/>
                </a:solidFill>
                <a:latin typeface="Verdana"/>
                <a:cs typeface="Verdana"/>
              </a:rPr>
              <a:t>Persona:</a:t>
            </a:r>
            <a:r>
              <a:rPr dirty="0" sz="2000" spc="-220">
                <a:solidFill>
                  <a:srgbClr val="041D3A"/>
                </a:solidFill>
                <a:latin typeface="Verdana"/>
                <a:cs typeface="Verdana"/>
              </a:rPr>
              <a:t> </a:t>
            </a:r>
            <a:r>
              <a:rPr dirty="0" sz="2000" spc="-50">
                <a:solidFill>
                  <a:srgbClr val="041D3A"/>
                </a:solidFill>
                <a:latin typeface="Verdana"/>
                <a:cs typeface="Verdana"/>
              </a:rPr>
              <a:t>Admin</a:t>
            </a:r>
            <a:r>
              <a:rPr dirty="0" sz="2000" spc="-215">
                <a:solidFill>
                  <a:srgbClr val="041D3A"/>
                </a:solidFill>
                <a:latin typeface="Verdana"/>
                <a:cs typeface="Verdana"/>
              </a:rPr>
              <a:t> </a:t>
            </a:r>
            <a:r>
              <a:rPr dirty="0" sz="2000" spc="-45">
                <a:solidFill>
                  <a:srgbClr val="041D3A"/>
                </a:solidFill>
                <a:latin typeface="Verdana"/>
                <a:cs typeface="Verdana"/>
              </a:rPr>
              <a:t>Alex</a:t>
            </a:r>
            <a:endParaRPr sz="2000">
              <a:latin typeface="Verdana"/>
              <a:cs typeface="Verdana"/>
            </a:endParaRPr>
          </a:p>
        </p:txBody>
      </p:sp>
      <p:pic>
        <p:nvPicPr>
          <p:cNvPr id="10" name="object 10" descr="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943600" y="6362699"/>
            <a:ext cx="4857749" cy="4857749"/>
          </a:xfrm>
          <a:prstGeom prst="rect">
            <a:avLst/>
          </a:prstGeom>
        </p:spPr>
      </p:pic>
      <p:sp>
        <p:nvSpPr>
          <p:cNvPr id="11" name="object 11" descr=""/>
          <p:cNvSpPr txBox="1"/>
          <p:nvPr/>
        </p:nvSpPr>
        <p:spPr>
          <a:xfrm>
            <a:off x="5934024" y="11377524"/>
            <a:ext cx="4707255" cy="596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90"/>
              </a:spcBef>
            </a:pP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Alex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requires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an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intuitive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dashboard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manage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applications,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track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statuses,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generate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reports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efficiently.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741116" y="3173413"/>
            <a:ext cx="2849245" cy="9525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650" spc="-55">
                <a:solidFill>
                  <a:srgbClr val="2B3440"/>
                </a:solidFill>
                <a:latin typeface="Verdana"/>
                <a:cs typeface="Verdana"/>
              </a:rPr>
              <a:t>Primary</a:t>
            </a:r>
            <a:r>
              <a:rPr dirty="0" sz="165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B3440"/>
                </a:solidFill>
                <a:latin typeface="Verdana"/>
                <a:cs typeface="Verdana"/>
              </a:rPr>
              <a:t>Users</a:t>
            </a:r>
            <a:endParaRPr sz="1650">
              <a:latin typeface="Verdana"/>
              <a:cs typeface="Verdana"/>
            </a:endParaRPr>
          </a:p>
          <a:p>
            <a:pPr algn="r" marL="12700" marR="5080" indent="391795">
              <a:lnSpc>
                <a:spcPct val="138400"/>
              </a:lnSpc>
              <a:spcBef>
                <a:spcPts val="625"/>
              </a:spcBef>
            </a:pP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Students,</a:t>
            </a:r>
            <a:r>
              <a:rPr dirty="0" sz="1400" spc="-14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Candidates,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Learners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seeking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fast,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clear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flow.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7752557" y="2078038"/>
            <a:ext cx="2707640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Administrators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Officers,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2B3440"/>
                </a:solidFill>
                <a:latin typeface="Verdana"/>
                <a:cs typeface="Verdana"/>
              </a:rPr>
              <a:t>Coordinators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requiring</a:t>
            </a:r>
            <a:r>
              <a:rPr dirty="0" sz="1400" spc="-12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efficient</a:t>
            </a:r>
            <a:r>
              <a:rPr dirty="0" sz="1400" spc="-12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dashboards</a:t>
            </a:r>
            <a:r>
              <a:rPr dirty="0" sz="1400" spc="-12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2B3440"/>
                </a:solidFill>
                <a:latin typeface="Verdana"/>
                <a:cs typeface="Verdana"/>
              </a:rPr>
              <a:t>and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status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tracking.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4" name="object 14" descr=""/>
          <p:cNvSpPr txBox="1"/>
          <p:nvPr/>
        </p:nvSpPr>
        <p:spPr>
          <a:xfrm>
            <a:off x="7752557" y="3992563"/>
            <a:ext cx="2945130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Stakeholders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Training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Providers,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Managers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overseeing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processes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B3440"/>
                </a:solidFill>
                <a:latin typeface="Verdana"/>
                <a:cs typeface="Verdana"/>
              </a:rPr>
              <a:t>and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data.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5" name="object 15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1215923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7429500"/>
          </a:xfrm>
          <a:custGeom>
            <a:avLst/>
            <a:gdLst/>
            <a:ahLst/>
            <a:cxnLst/>
            <a:rect l="l" t="t" r="r" b="b"/>
            <a:pathLst>
              <a:path w="11430000" h="7429500">
                <a:moveTo>
                  <a:pt x="11430000" y="0"/>
                </a:moveTo>
                <a:lnTo>
                  <a:pt x="0" y="0"/>
                </a:lnTo>
                <a:lnTo>
                  <a:pt x="0" y="7429500"/>
                </a:lnTo>
                <a:lnTo>
                  <a:pt x="11430000" y="74295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53"/>
            <a:ext cx="11430000" cy="2277110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624879" y="2768600"/>
            <a:ext cx="7920355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Market</a:t>
            </a:r>
            <a:r>
              <a:rPr dirty="0" spc="-370"/>
              <a:t> </a:t>
            </a:r>
            <a:r>
              <a:rPr dirty="0" spc="-160"/>
              <a:t>Insights</a:t>
            </a:r>
            <a:r>
              <a:rPr dirty="0" spc="-365"/>
              <a:t> </a:t>
            </a:r>
            <a:r>
              <a:rPr dirty="0" spc="-180"/>
              <a:t>&amp;</a:t>
            </a:r>
            <a:r>
              <a:rPr dirty="0" spc="-365"/>
              <a:t> </a:t>
            </a:r>
            <a:r>
              <a:rPr dirty="0" spc="-120"/>
              <a:t>Growth</a:t>
            </a:r>
            <a:r>
              <a:rPr dirty="0" spc="-370"/>
              <a:t> </a:t>
            </a:r>
            <a:r>
              <a:rPr dirty="0" spc="-70"/>
              <a:t>Opportunities</a:t>
            </a:r>
          </a:p>
        </p:txBody>
      </p:sp>
      <p:sp>
        <p:nvSpPr>
          <p:cNvPr id="5" name="object 5" descr=""/>
          <p:cNvSpPr txBox="1"/>
          <p:nvPr/>
        </p:nvSpPr>
        <p:spPr>
          <a:xfrm>
            <a:off x="624879" y="3605657"/>
            <a:ext cx="7913370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The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market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is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ripe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an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advanced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platform,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driven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2B3440"/>
                </a:solidFill>
                <a:latin typeface="Verdana"/>
                <a:cs typeface="Verdana"/>
              </a:rPr>
              <a:t>by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evolving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trends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in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digital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45">
                <a:solidFill>
                  <a:srgbClr val="2B3440"/>
                </a:solidFill>
                <a:latin typeface="Verdana"/>
                <a:cs typeface="Verdana"/>
              </a:rPr>
              <a:t>education.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632482" y="4080532"/>
            <a:ext cx="10168890" cy="740410"/>
            <a:chOff x="632482" y="4080532"/>
            <a:chExt cx="10168890" cy="740410"/>
          </a:xfrm>
        </p:grpSpPr>
        <p:sp>
          <p:nvSpPr>
            <p:cNvPr id="7" name="object 7" descr=""/>
            <p:cNvSpPr/>
            <p:nvPr/>
          </p:nvSpPr>
          <p:spPr>
            <a:xfrm>
              <a:off x="638174" y="4086224"/>
              <a:ext cx="3385185" cy="728980"/>
            </a:xfrm>
            <a:custGeom>
              <a:avLst/>
              <a:gdLst/>
              <a:ahLst/>
              <a:cxnLst/>
              <a:rect l="l" t="t" r="r" b="b"/>
              <a:pathLst>
                <a:path w="3385185" h="728979">
                  <a:moveTo>
                    <a:pt x="3202787" y="0"/>
                  </a:moveTo>
                  <a:lnTo>
                    <a:pt x="0" y="0"/>
                  </a:lnTo>
                  <a:lnTo>
                    <a:pt x="182166" y="364337"/>
                  </a:lnTo>
                  <a:lnTo>
                    <a:pt x="0" y="728662"/>
                  </a:lnTo>
                  <a:lnTo>
                    <a:pt x="3202787" y="728662"/>
                  </a:lnTo>
                  <a:lnTo>
                    <a:pt x="3384943" y="364337"/>
                  </a:lnTo>
                  <a:lnTo>
                    <a:pt x="3202787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38174" y="4086224"/>
              <a:ext cx="3385185" cy="728980"/>
            </a:xfrm>
            <a:custGeom>
              <a:avLst/>
              <a:gdLst/>
              <a:ahLst/>
              <a:cxnLst/>
              <a:rect l="l" t="t" r="r" b="b"/>
              <a:pathLst>
                <a:path w="3385185" h="728979">
                  <a:moveTo>
                    <a:pt x="3202787" y="0"/>
                  </a:moveTo>
                  <a:lnTo>
                    <a:pt x="3384943" y="364337"/>
                  </a:lnTo>
                  <a:lnTo>
                    <a:pt x="3202787" y="728662"/>
                  </a:lnTo>
                  <a:lnTo>
                    <a:pt x="0" y="728662"/>
                  </a:lnTo>
                  <a:lnTo>
                    <a:pt x="182166" y="364337"/>
                  </a:lnTo>
                  <a:lnTo>
                    <a:pt x="0" y="0"/>
                  </a:lnTo>
                  <a:lnTo>
                    <a:pt x="3202787" y="0"/>
                  </a:lnTo>
                  <a:close/>
                </a:path>
              </a:pathLst>
            </a:custGeom>
            <a:ln w="1138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2190750" y="4327956"/>
              <a:ext cx="273685" cy="247015"/>
            </a:xfrm>
            <a:custGeom>
              <a:avLst/>
              <a:gdLst/>
              <a:ahLst/>
              <a:cxnLst/>
              <a:rect l="l" t="t" r="r" b="b"/>
              <a:pathLst>
                <a:path w="273685" h="247014">
                  <a:moveTo>
                    <a:pt x="0" y="0"/>
                  </a:moveTo>
                  <a:lnTo>
                    <a:pt x="76" y="246976"/>
                  </a:lnTo>
                  <a:lnTo>
                    <a:pt x="272986" y="246976"/>
                  </a:lnTo>
                </a:path>
                <a:path w="273685" h="247014">
                  <a:moveTo>
                    <a:pt x="223735" y="17360"/>
                  </a:moveTo>
                  <a:lnTo>
                    <a:pt x="271907" y="2997"/>
                  </a:lnTo>
                  <a:lnTo>
                    <a:pt x="169164" y="141490"/>
                  </a:lnTo>
                  <a:lnTo>
                    <a:pt x="121589" y="91567"/>
                  </a:lnTo>
                </a:path>
                <a:path w="273685" h="247014">
                  <a:moveTo>
                    <a:pt x="30302" y="204114"/>
                  </a:moveTo>
                  <a:lnTo>
                    <a:pt x="121589" y="91567"/>
                  </a:lnTo>
                </a:path>
                <a:path w="273685" h="247014">
                  <a:moveTo>
                    <a:pt x="273100" y="51777"/>
                  </a:moveTo>
                  <a:lnTo>
                    <a:pt x="273253" y="2590"/>
                  </a:lnTo>
                </a:path>
              </a:pathLst>
            </a:custGeom>
            <a:ln w="12264">
              <a:solidFill>
                <a:srgbClr val="2B34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019550" y="4086224"/>
              <a:ext cx="3385185" cy="728980"/>
            </a:xfrm>
            <a:custGeom>
              <a:avLst/>
              <a:gdLst/>
              <a:ahLst/>
              <a:cxnLst/>
              <a:rect l="l" t="t" r="r" b="b"/>
              <a:pathLst>
                <a:path w="3385184" h="728979">
                  <a:moveTo>
                    <a:pt x="3202787" y="0"/>
                  </a:moveTo>
                  <a:lnTo>
                    <a:pt x="0" y="0"/>
                  </a:lnTo>
                  <a:lnTo>
                    <a:pt x="182168" y="364337"/>
                  </a:lnTo>
                  <a:lnTo>
                    <a:pt x="0" y="728662"/>
                  </a:lnTo>
                  <a:lnTo>
                    <a:pt x="3202787" y="728662"/>
                  </a:lnTo>
                  <a:lnTo>
                    <a:pt x="3384943" y="364337"/>
                  </a:lnTo>
                  <a:lnTo>
                    <a:pt x="3202787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019550" y="4086224"/>
              <a:ext cx="3385185" cy="728980"/>
            </a:xfrm>
            <a:custGeom>
              <a:avLst/>
              <a:gdLst/>
              <a:ahLst/>
              <a:cxnLst/>
              <a:rect l="l" t="t" r="r" b="b"/>
              <a:pathLst>
                <a:path w="3385184" h="728979">
                  <a:moveTo>
                    <a:pt x="3202787" y="0"/>
                  </a:moveTo>
                  <a:lnTo>
                    <a:pt x="3384943" y="364337"/>
                  </a:lnTo>
                  <a:lnTo>
                    <a:pt x="3202787" y="728662"/>
                  </a:lnTo>
                  <a:lnTo>
                    <a:pt x="0" y="728662"/>
                  </a:lnTo>
                  <a:lnTo>
                    <a:pt x="182168" y="364337"/>
                  </a:lnTo>
                  <a:lnTo>
                    <a:pt x="0" y="0"/>
                  </a:lnTo>
                  <a:lnTo>
                    <a:pt x="3202787" y="0"/>
                  </a:lnTo>
                  <a:close/>
                </a:path>
              </a:pathLst>
            </a:custGeom>
            <a:ln w="1138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577198" y="4309017"/>
              <a:ext cx="282099" cy="285112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5583237" y="4314825"/>
              <a:ext cx="270510" cy="266700"/>
            </a:xfrm>
            <a:custGeom>
              <a:avLst/>
              <a:gdLst/>
              <a:ahLst/>
              <a:cxnLst/>
              <a:rect l="l" t="t" r="r" b="b"/>
              <a:pathLst>
                <a:path w="270510" h="266700">
                  <a:moveTo>
                    <a:pt x="269963" y="136385"/>
                  </a:moveTo>
                  <a:lnTo>
                    <a:pt x="0" y="136372"/>
                  </a:lnTo>
                </a:path>
                <a:path w="270510" h="266700">
                  <a:moveTo>
                    <a:pt x="134264" y="190957"/>
                  </a:moveTo>
                  <a:lnTo>
                    <a:pt x="134708" y="190195"/>
                  </a:lnTo>
                  <a:lnTo>
                    <a:pt x="134696" y="0"/>
                  </a:lnTo>
                </a:path>
                <a:path w="270510" h="266700">
                  <a:moveTo>
                    <a:pt x="63030" y="68783"/>
                  </a:moveTo>
                  <a:lnTo>
                    <a:pt x="23749" y="57835"/>
                  </a:lnTo>
                </a:path>
                <a:path w="270510" h="266700">
                  <a:moveTo>
                    <a:pt x="243738" y="55600"/>
                  </a:moveTo>
                  <a:lnTo>
                    <a:pt x="243967" y="56222"/>
                  </a:lnTo>
                </a:path>
                <a:path w="270510" h="266700">
                  <a:moveTo>
                    <a:pt x="76" y="133934"/>
                  </a:moveTo>
                  <a:lnTo>
                    <a:pt x="6540" y="92989"/>
                  </a:lnTo>
                  <a:lnTo>
                    <a:pt x="25209" y="55968"/>
                  </a:lnTo>
                  <a:lnTo>
                    <a:pt x="54305" y="26428"/>
                  </a:lnTo>
                  <a:lnTo>
                    <a:pt x="81287" y="10937"/>
                  </a:lnTo>
                  <a:lnTo>
                    <a:pt x="91033" y="7213"/>
                  </a:lnTo>
                </a:path>
                <a:path w="270510" h="266700">
                  <a:moveTo>
                    <a:pt x="179184" y="7581"/>
                  </a:moveTo>
                  <a:lnTo>
                    <a:pt x="198074" y="15887"/>
                  </a:lnTo>
                  <a:lnTo>
                    <a:pt x="215142" y="26650"/>
                  </a:lnTo>
                  <a:lnTo>
                    <a:pt x="230388" y="39871"/>
                  </a:lnTo>
                  <a:lnTo>
                    <a:pt x="243814" y="55549"/>
                  </a:lnTo>
                </a:path>
                <a:path w="270510" h="266700">
                  <a:moveTo>
                    <a:pt x="162191" y="4318"/>
                  </a:moveTo>
                  <a:lnTo>
                    <a:pt x="162445" y="3911"/>
                  </a:lnTo>
                </a:path>
                <a:path w="270510" h="266700">
                  <a:moveTo>
                    <a:pt x="163144" y="4318"/>
                  </a:moveTo>
                  <a:lnTo>
                    <a:pt x="163410" y="4800"/>
                  </a:lnTo>
                  <a:lnTo>
                    <a:pt x="166039" y="5067"/>
                  </a:lnTo>
                  <a:lnTo>
                    <a:pt x="168871" y="6781"/>
                  </a:lnTo>
                  <a:lnTo>
                    <a:pt x="170268" y="7239"/>
                  </a:lnTo>
                </a:path>
                <a:path w="270510" h="266700">
                  <a:moveTo>
                    <a:pt x="181559" y="264845"/>
                  </a:moveTo>
                  <a:lnTo>
                    <a:pt x="174193" y="264325"/>
                  </a:lnTo>
                </a:path>
                <a:path w="270510" h="266700">
                  <a:moveTo>
                    <a:pt x="177977" y="266115"/>
                  </a:moveTo>
                  <a:lnTo>
                    <a:pt x="174193" y="264325"/>
                  </a:lnTo>
                </a:path>
                <a:path w="270510" h="266700">
                  <a:moveTo>
                    <a:pt x="90627" y="265849"/>
                  </a:moveTo>
                  <a:lnTo>
                    <a:pt x="100393" y="266395"/>
                  </a:lnTo>
                </a:path>
                <a:path w="270510" h="266700">
                  <a:moveTo>
                    <a:pt x="179171" y="7594"/>
                  </a:moveTo>
                  <a:lnTo>
                    <a:pt x="170268" y="7239"/>
                  </a:lnTo>
                </a:path>
                <a:path w="270510" h="266700">
                  <a:moveTo>
                    <a:pt x="91008" y="7112"/>
                  </a:moveTo>
                  <a:lnTo>
                    <a:pt x="98399" y="7404"/>
                  </a:lnTo>
                </a:path>
                <a:path w="270510" h="266700">
                  <a:moveTo>
                    <a:pt x="208318" y="74980"/>
                  </a:moveTo>
                  <a:lnTo>
                    <a:pt x="202210" y="55349"/>
                  </a:lnTo>
                  <a:lnTo>
                    <a:pt x="193335" y="37376"/>
                  </a:lnTo>
                  <a:lnTo>
                    <a:pt x="181693" y="21059"/>
                  </a:lnTo>
                  <a:lnTo>
                    <a:pt x="167284" y="6400"/>
                  </a:lnTo>
                </a:path>
              </a:pathLst>
            </a:custGeom>
            <a:ln w="12103">
              <a:solidFill>
                <a:srgbClr val="2B344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7410450" y="4086224"/>
              <a:ext cx="3385185" cy="728980"/>
            </a:xfrm>
            <a:custGeom>
              <a:avLst/>
              <a:gdLst/>
              <a:ahLst/>
              <a:cxnLst/>
              <a:rect l="l" t="t" r="r" b="b"/>
              <a:pathLst>
                <a:path w="3385184" h="728979">
                  <a:moveTo>
                    <a:pt x="3202787" y="0"/>
                  </a:moveTo>
                  <a:lnTo>
                    <a:pt x="0" y="0"/>
                  </a:lnTo>
                  <a:lnTo>
                    <a:pt x="182168" y="364337"/>
                  </a:lnTo>
                  <a:lnTo>
                    <a:pt x="0" y="728662"/>
                  </a:lnTo>
                  <a:lnTo>
                    <a:pt x="3202787" y="728662"/>
                  </a:lnTo>
                  <a:lnTo>
                    <a:pt x="3384943" y="364337"/>
                  </a:lnTo>
                  <a:lnTo>
                    <a:pt x="3202787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7410450" y="4086224"/>
              <a:ext cx="3385185" cy="728980"/>
            </a:xfrm>
            <a:custGeom>
              <a:avLst/>
              <a:gdLst/>
              <a:ahLst/>
              <a:cxnLst/>
              <a:rect l="l" t="t" r="r" b="b"/>
              <a:pathLst>
                <a:path w="3385184" h="728979">
                  <a:moveTo>
                    <a:pt x="3202787" y="0"/>
                  </a:moveTo>
                  <a:lnTo>
                    <a:pt x="3384943" y="364337"/>
                  </a:lnTo>
                  <a:lnTo>
                    <a:pt x="3202787" y="728662"/>
                  </a:lnTo>
                  <a:lnTo>
                    <a:pt x="0" y="728662"/>
                  </a:lnTo>
                  <a:lnTo>
                    <a:pt x="182168" y="364337"/>
                  </a:lnTo>
                  <a:lnTo>
                    <a:pt x="0" y="0"/>
                  </a:lnTo>
                  <a:lnTo>
                    <a:pt x="3202787" y="0"/>
                  </a:lnTo>
                  <a:close/>
                </a:path>
              </a:pathLst>
            </a:custGeom>
            <a:ln w="1138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956973" y="4362773"/>
              <a:ext cx="285356" cy="177355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807045" y="4983162"/>
            <a:ext cx="2928620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>
                <a:solidFill>
                  <a:srgbClr val="2B3440"/>
                </a:solidFill>
                <a:latin typeface="Verdana"/>
                <a:cs typeface="Verdana"/>
              </a:rPr>
              <a:t>Digital</a:t>
            </a:r>
            <a:r>
              <a:rPr dirty="0" sz="165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65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Growth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Significant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trends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in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online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education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digital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adoption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are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fuelling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demand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streamlined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solutions.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 descr=""/>
          <p:cNvSpPr txBox="1"/>
          <p:nvPr/>
        </p:nvSpPr>
        <p:spPr>
          <a:xfrm>
            <a:off x="4191990" y="4983162"/>
            <a:ext cx="3043555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>
                <a:solidFill>
                  <a:srgbClr val="2B3440"/>
                </a:solidFill>
                <a:latin typeface="Verdana"/>
                <a:cs typeface="Verdana"/>
              </a:rPr>
              <a:t>Remote</a:t>
            </a:r>
            <a:r>
              <a:rPr dirty="0" sz="165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Onboarding</a:t>
            </a:r>
            <a:r>
              <a:rPr dirty="0" sz="165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B3440"/>
                </a:solidFill>
                <a:latin typeface="Verdana"/>
                <a:cs typeface="Verdana"/>
              </a:rPr>
              <a:t>Needs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The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increasing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shift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remote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learning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work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necessitates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robust,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digital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onboarding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tools.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576934" y="4983162"/>
            <a:ext cx="2837815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5">
                <a:solidFill>
                  <a:srgbClr val="2B3440"/>
                </a:solidFill>
                <a:latin typeface="Verdana"/>
                <a:cs typeface="Verdana"/>
              </a:rPr>
              <a:t>Expanding</a:t>
            </a:r>
            <a:r>
              <a:rPr dirty="0" sz="1650" spc="-18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80">
                <a:solidFill>
                  <a:srgbClr val="2B3440"/>
                </a:solidFill>
                <a:latin typeface="Verdana"/>
                <a:cs typeface="Verdana"/>
              </a:rPr>
              <a:t>SaaS</a:t>
            </a:r>
            <a:r>
              <a:rPr dirty="0" sz="1650" spc="-17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Market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6200"/>
              </a:lnSpc>
              <a:spcBef>
                <a:spcPts val="590"/>
              </a:spcBef>
            </a:pP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growing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market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education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2B3440"/>
                </a:solidFill>
                <a:latin typeface="Verdana"/>
                <a:cs typeface="Verdana"/>
              </a:rPr>
              <a:t>and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administration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SaaS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tools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presents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substantial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revenue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potential.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624878" y="6653656"/>
            <a:ext cx="7153909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EMBRACE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is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strategically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positioned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capture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significant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share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B3440"/>
                </a:solidFill>
                <a:latin typeface="Verdana"/>
                <a:cs typeface="Verdana"/>
              </a:rPr>
              <a:t>of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this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expanding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2B3440"/>
                </a:solidFill>
                <a:latin typeface="Verdana"/>
                <a:cs typeface="Verdana"/>
              </a:rPr>
              <a:t>market.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21" name="object 21" descr="">
            <a:hlinkClick r:id="rId5"/>
          </p:cNvPr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9580244" y="69166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879" y="1177925"/>
            <a:ext cx="944626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130"/>
              <a:t>Competitive</a:t>
            </a:r>
            <a:r>
              <a:rPr dirty="0" spc="-365"/>
              <a:t> </a:t>
            </a:r>
            <a:r>
              <a:rPr dirty="0" spc="-135"/>
              <a:t>Landscape:</a:t>
            </a:r>
            <a:r>
              <a:rPr dirty="0" spc="-360"/>
              <a:t> </a:t>
            </a:r>
            <a:r>
              <a:rPr dirty="0" spc="-35"/>
              <a:t>EMBRACE</a:t>
            </a:r>
            <a:r>
              <a:rPr dirty="0" spc="-360"/>
              <a:t> </a:t>
            </a:r>
            <a:r>
              <a:rPr dirty="0" spc="-295"/>
              <a:t>vs.</a:t>
            </a:r>
            <a:r>
              <a:rPr dirty="0" spc="-360"/>
              <a:t> </a:t>
            </a:r>
            <a:r>
              <a:rPr dirty="0" spc="-95"/>
              <a:t>The</a:t>
            </a:r>
            <a:r>
              <a:rPr dirty="0" spc="-365"/>
              <a:t> </a:t>
            </a:r>
            <a:r>
              <a:rPr dirty="0" spc="-20"/>
              <a:t>Rest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24879" y="2100707"/>
            <a:ext cx="6938009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We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stand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out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2B3440"/>
                </a:solidFill>
                <a:latin typeface="Verdana"/>
                <a:cs typeface="Verdana"/>
              </a:rPr>
              <a:t>by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prioritising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user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experience,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real-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time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data,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comprehensive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B3440"/>
                </a:solidFill>
                <a:latin typeface="Verdana"/>
                <a:cs typeface="Verdana"/>
              </a:rPr>
              <a:t>features.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38175" y="2581274"/>
            <a:ext cx="10153650" cy="2171700"/>
            <a:chOff x="638175" y="2581274"/>
            <a:chExt cx="10153650" cy="2171700"/>
          </a:xfrm>
        </p:grpSpPr>
        <p:sp>
          <p:nvSpPr>
            <p:cNvPr id="6" name="object 6" descr=""/>
            <p:cNvSpPr/>
            <p:nvPr/>
          </p:nvSpPr>
          <p:spPr>
            <a:xfrm>
              <a:off x="642937" y="2586037"/>
              <a:ext cx="10144125" cy="2162175"/>
            </a:xfrm>
            <a:custGeom>
              <a:avLst/>
              <a:gdLst/>
              <a:ahLst/>
              <a:cxnLst/>
              <a:rect l="l" t="t" r="r" b="b"/>
              <a:pathLst>
                <a:path w="10144125" h="2162175">
                  <a:moveTo>
                    <a:pt x="0" y="2103183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10085133" y="0"/>
                  </a:lnTo>
                  <a:lnTo>
                    <a:pt x="10089007" y="0"/>
                  </a:lnTo>
                  <a:lnTo>
                    <a:pt x="10092842" y="381"/>
                  </a:lnTo>
                  <a:lnTo>
                    <a:pt x="10096639" y="1130"/>
                  </a:lnTo>
                  <a:lnTo>
                    <a:pt x="10100437" y="1892"/>
                  </a:lnTo>
                  <a:lnTo>
                    <a:pt x="10104120" y="3009"/>
                  </a:lnTo>
                  <a:lnTo>
                    <a:pt x="10107701" y="4495"/>
                  </a:lnTo>
                  <a:lnTo>
                    <a:pt x="10111282" y="5969"/>
                  </a:lnTo>
                  <a:lnTo>
                    <a:pt x="10114686" y="7785"/>
                  </a:lnTo>
                  <a:lnTo>
                    <a:pt x="10117912" y="9944"/>
                  </a:lnTo>
                  <a:lnTo>
                    <a:pt x="10121125" y="12090"/>
                  </a:lnTo>
                  <a:lnTo>
                    <a:pt x="10124109" y="14541"/>
                  </a:lnTo>
                  <a:lnTo>
                    <a:pt x="10126840" y="17284"/>
                  </a:lnTo>
                  <a:lnTo>
                    <a:pt x="10129583" y="20015"/>
                  </a:lnTo>
                  <a:lnTo>
                    <a:pt x="10132034" y="22999"/>
                  </a:lnTo>
                  <a:lnTo>
                    <a:pt x="10134181" y="26225"/>
                  </a:lnTo>
                  <a:lnTo>
                    <a:pt x="10136327" y="29438"/>
                  </a:lnTo>
                  <a:lnTo>
                    <a:pt x="10138156" y="32842"/>
                  </a:lnTo>
                  <a:lnTo>
                    <a:pt x="10139629" y="36423"/>
                  </a:lnTo>
                  <a:lnTo>
                    <a:pt x="10141115" y="39992"/>
                  </a:lnTo>
                  <a:lnTo>
                    <a:pt x="10142232" y="43688"/>
                  </a:lnTo>
                  <a:lnTo>
                    <a:pt x="10142994" y="47485"/>
                  </a:lnTo>
                  <a:lnTo>
                    <a:pt x="10143744" y="51282"/>
                  </a:lnTo>
                  <a:lnTo>
                    <a:pt x="10144125" y="55118"/>
                  </a:lnTo>
                  <a:lnTo>
                    <a:pt x="10144125" y="58991"/>
                  </a:lnTo>
                  <a:lnTo>
                    <a:pt x="10144125" y="2103183"/>
                  </a:lnTo>
                  <a:lnTo>
                    <a:pt x="10144125" y="2107044"/>
                  </a:lnTo>
                  <a:lnTo>
                    <a:pt x="10143744" y="2110892"/>
                  </a:lnTo>
                  <a:lnTo>
                    <a:pt x="10142994" y="2114689"/>
                  </a:lnTo>
                  <a:lnTo>
                    <a:pt x="10142232" y="2118487"/>
                  </a:lnTo>
                  <a:lnTo>
                    <a:pt x="10141115" y="2122170"/>
                  </a:lnTo>
                  <a:lnTo>
                    <a:pt x="10139629" y="2125751"/>
                  </a:lnTo>
                  <a:lnTo>
                    <a:pt x="10138156" y="2129332"/>
                  </a:lnTo>
                  <a:lnTo>
                    <a:pt x="10136327" y="2132736"/>
                  </a:lnTo>
                  <a:lnTo>
                    <a:pt x="10134181" y="2135949"/>
                  </a:lnTo>
                  <a:lnTo>
                    <a:pt x="10132034" y="2139175"/>
                  </a:lnTo>
                  <a:lnTo>
                    <a:pt x="10129583" y="2142159"/>
                  </a:lnTo>
                  <a:lnTo>
                    <a:pt x="10126840" y="2144903"/>
                  </a:lnTo>
                  <a:lnTo>
                    <a:pt x="10124109" y="2147633"/>
                  </a:lnTo>
                  <a:lnTo>
                    <a:pt x="10107701" y="2157679"/>
                  </a:lnTo>
                  <a:lnTo>
                    <a:pt x="10104120" y="2159165"/>
                  </a:lnTo>
                  <a:lnTo>
                    <a:pt x="10100437" y="2160282"/>
                  </a:lnTo>
                  <a:lnTo>
                    <a:pt x="10096639" y="2161044"/>
                  </a:lnTo>
                  <a:lnTo>
                    <a:pt x="10092842" y="2161794"/>
                  </a:lnTo>
                  <a:lnTo>
                    <a:pt x="10089007" y="2162175"/>
                  </a:lnTo>
                  <a:lnTo>
                    <a:pt x="10085133" y="2162175"/>
                  </a:lnTo>
                  <a:lnTo>
                    <a:pt x="58995" y="2162175"/>
                  </a:lnTo>
                  <a:lnTo>
                    <a:pt x="55120" y="2162175"/>
                  </a:lnTo>
                  <a:lnTo>
                    <a:pt x="51286" y="2161794"/>
                  </a:lnTo>
                  <a:lnTo>
                    <a:pt x="47486" y="2161044"/>
                  </a:lnTo>
                  <a:lnTo>
                    <a:pt x="43685" y="2160282"/>
                  </a:lnTo>
                  <a:lnTo>
                    <a:pt x="39999" y="2159165"/>
                  </a:lnTo>
                  <a:lnTo>
                    <a:pt x="36418" y="2157679"/>
                  </a:lnTo>
                  <a:lnTo>
                    <a:pt x="32840" y="2156206"/>
                  </a:lnTo>
                  <a:lnTo>
                    <a:pt x="29438" y="2154377"/>
                  </a:lnTo>
                  <a:lnTo>
                    <a:pt x="26219" y="2152230"/>
                  </a:lnTo>
                  <a:lnTo>
                    <a:pt x="22998" y="2150084"/>
                  </a:lnTo>
                  <a:lnTo>
                    <a:pt x="9941" y="2135949"/>
                  </a:lnTo>
                  <a:lnTo>
                    <a:pt x="7788" y="2132736"/>
                  </a:lnTo>
                  <a:lnTo>
                    <a:pt x="5972" y="2129332"/>
                  </a:lnTo>
                  <a:lnTo>
                    <a:pt x="4489" y="2125751"/>
                  </a:lnTo>
                  <a:lnTo>
                    <a:pt x="3006" y="2122170"/>
                  </a:lnTo>
                  <a:lnTo>
                    <a:pt x="1889" y="2118487"/>
                  </a:lnTo>
                  <a:lnTo>
                    <a:pt x="1131" y="2114689"/>
                  </a:lnTo>
                  <a:lnTo>
                    <a:pt x="377" y="2110892"/>
                  </a:lnTo>
                  <a:lnTo>
                    <a:pt x="0" y="2107044"/>
                  </a:lnTo>
                  <a:lnTo>
                    <a:pt x="0" y="2103183"/>
                  </a:lnTo>
                  <a:close/>
                </a:path>
              </a:pathLst>
            </a:custGeom>
            <a:ln w="9525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47687" y="2590812"/>
              <a:ext cx="10134600" cy="542925"/>
            </a:xfrm>
            <a:custGeom>
              <a:avLst/>
              <a:gdLst/>
              <a:ahLst/>
              <a:cxnLst/>
              <a:rect l="l" t="t" r="r" b="b"/>
              <a:pathLst>
                <a:path w="10134600" h="542925">
                  <a:moveTo>
                    <a:pt x="3038475" y="0"/>
                  </a:moveTo>
                  <a:lnTo>
                    <a:pt x="55308" y="0"/>
                  </a:lnTo>
                  <a:lnTo>
                    <a:pt x="47180" y="1612"/>
                  </a:lnTo>
                  <a:lnTo>
                    <a:pt x="12700" y="24650"/>
                  </a:lnTo>
                  <a:lnTo>
                    <a:pt x="0" y="55295"/>
                  </a:lnTo>
                  <a:lnTo>
                    <a:pt x="0" y="542925"/>
                  </a:lnTo>
                  <a:lnTo>
                    <a:pt x="3038475" y="542925"/>
                  </a:lnTo>
                  <a:lnTo>
                    <a:pt x="3038475" y="0"/>
                  </a:lnTo>
                  <a:close/>
                </a:path>
                <a:path w="10134600" h="542925">
                  <a:moveTo>
                    <a:pt x="10134600" y="55295"/>
                  </a:moveTo>
                  <a:lnTo>
                    <a:pt x="10109949" y="12700"/>
                  </a:lnTo>
                  <a:lnTo>
                    <a:pt x="10079291" y="0"/>
                  </a:lnTo>
                  <a:lnTo>
                    <a:pt x="8115300" y="0"/>
                  </a:lnTo>
                  <a:lnTo>
                    <a:pt x="8115300" y="542925"/>
                  </a:lnTo>
                  <a:lnTo>
                    <a:pt x="10134600" y="542925"/>
                  </a:lnTo>
                  <a:lnTo>
                    <a:pt x="10134600" y="55295"/>
                  </a:lnTo>
                  <a:close/>
                </a:path>
              </a:pathLst>
            </a:custGeom>
            <a:solidFill>
              <a:srgbClr val="FFFFFF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47687" y="4210062"/>
              <a:ext cx="10134600" cy="533400"/>
            </a:xfrm>
            <a:custGeom>
              <a:avLst/>
              <a:gdLst/>
              <a:ahLst/>
              <a:cxnLst/>
              <a:rect l="l" t="t" r="r" b="b"/>
              <a:pathLst>
                <a:path w="10134600" h="533400">
                  <a:moveTo>
                    <a:pt x="3038475" y="0"/>
                  </a:moveTo>
                  <a:lnTo>
                    <a:pt x="0" y="0"/>
                  </a:lnTo>
                  <a:lnTo>
                    <a:pt x="0" y="478091"/>
                  </a:lnTo>
                  <a:lnTo>
                    <a:pt x="24650" y="520700"/>
                  </a:lnTo>
                  <a:lnTo>
                    <a:pt x="55308" y="533400"/>
                  </a:lnTo>
                  <a:lnTo>
                    <a:pt x="3038475" y="533400"/>
                  </a:lnTo>
                  <a:lnTo>
                    <a:pt x="3038475" y="0"/>
                  </a:lnTo>
                  <a:close/>
                </a:path>
                <a:path w="10134600" h="533400">
                  <a:moveTo>
                    <a:pt x="10134600" y="0"/>
                  </a:moveTo>
                  <a:lnTo>
                    <a:pt x="8115300" y="0"/>
                  </a:lnTo>
                  <a:lnTo>
                    <a:pt x="8115300" y="533400"/>
                  </a:lnTo>
                  <a:lnTo>
                    <a:pt x="10079291" y="533400"/>
                  </a:lnTo>
                  <a:lnTo>
                    <a:pt x="10087432" y="531774"/>
                  </a:lnTo>
                  <a:lnTo>
                    <a:pt x="10121900" y="508749"/>
                  </a:lnTo>
                  <a:lnTo>
                    <a:pt x="10134600" y="478091"/>
                  </a:lnTo>
                  <a:lnTo>
                    <a:pt x="10134600" y="0"/>
                  </a:lnTo>
                  <a:close/>
                </a:path>
              </a:pathLst>
            </a:custGeom>
            <a:solidFill>
              <a:srgbClr val="000000">
                <a:alpha val="3919"/>
              </a:srgbClr>
            </a:solidFill>
          </p:spPr>
          <p:txBody>
            <a:bodyPr wrap="square" lIns="0" tIns="0" rIns="0" bIns="0" rtlCol="0"/>
            <a:lstStyle/>
            <a:p/>
          </p:txBody>
        </p:sp>
      </p:grpSp>
      <p:graphicFrame>
        <p:nvGraphicFramePr>
          <p:cNvPr id="9" name="object 9" descr=""/>
          <p:cNvGraphicFramePr>
            <a:graphicFrameLocks noGrp="1"/>
          </p:cNvGraphicFramePr>
          <p:nvPr/>
        </p:nvGraphicFramePr>
        <p:xfrm>
          <a:off x="647700" y="2590800"/>
          <a:ext cx="10210800" cy="215074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2920"/>
                <a:gridCol w="2533014"/>
                <a:gridCol w="2533015"/>
                <a:gridCol w="2023745"/>
              </a:tblGrid>
              <a:tr h="542290"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1400" spc="-10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Ease</a:t>
                      </a:r>
                      <a:r>
                        <a:rPr dirty="0" sz="1400" spc="-18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55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of</a:t>
                      </a:r>
                      <a:r>
                        <a:rPr dirty="0" sz="1400" spc="-18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5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Use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55575">
                    <a:lnR w="9525">
                      <a:solidFill>
                        <a:srgbClr val="FAF5E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  <a:tabLst>
                          <a:tab pos="406400" algn="l"/>
                          <a:tab pos="629920" algn="l"/>
                          <a:tab pos="852805" algn="l"/>
                        </a:tabLst>
                      </a:pPr>
                      <a:r>
                        <a:rPr dirty="0" sz="1700" spc="-815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815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815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815">
                          <a:latin typeface="Times New Roman"/>
                          <a:cs typeface="Times New Roman"/>
                        </a:rPr>
                        <a:t>{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  <a:tabLst>
                          <a:tab pos="407034" algn="l"/>
                        </a:tabLst>
                      </a:pPr>
                      <a:r>
                        <a:rPr dirty="0" sz="1700" spc="-815">
                          <a:latin typeface="Times New Roman"/>
                          <a:cs typeface="Times New Roman"/>
                        </a:rPr>
                        <a:t>{</a:t>
                      </a:r>
                      <a:r>
                        <a:rPr dirty="0" sz="1700"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1700" spc="-815">
                          <a:latin typeface="Times New Roman"/>
                          <a:cs typeface="Times New Roman"/>
                        </a:rPr>
                        <a:t>{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6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Real-</a:t>
                      </a:r>
                      <a:r>
                        <a:rPr dirty="0" sz="1400" spc="-95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Time</a:t>
                      </a:r>
                      <a:r>
                        <a:rPr dirty="0" sz="1400" spc="-135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Status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dirty="0" sz="1700" spc="-855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dirty="0" sz="1700" spc="-855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dirty="0" sz="1700" spc="-855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solidFill>
                      <a:srgbClr val="000000">
                        <a:alpha val="3919"/>
                      </a:srgbClr>
                    </a:solidFill>
                  </a:tcPr>
                </a:tc>
              </a:tr>
              <a:tr h="542925"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225"/>
                        </a:spcBef>
                      </a:pPr>
                      <a:r>
                        <a:rPr dirty="0" sz="1400" spc="-6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Mobile</a:t>
                      </a:r>
                      <a:r>
                        <a:rPr dirty="0" sz="1400" spc="-165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2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Ready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55575"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dirty="0" sz="1700" spc="-855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dirty="0" sz="1700" spc="-855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FFFFFF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dirty="0" sz="1700" spc="-855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solidFill>
                      <a:srgbClr val="FFFFFF">
                        <a:alpha val="3919"/>
                      </a:srgbClr>
                    </a:solidFill>
                  </a:tcPr>
                </a:tc>
              </a:tr>
              <a:tr h="532765">
                <a:tc>
                  <a:txBody>
                    <a:bodyPr/>
                    <a:lstStyle/>
                    <a:p>
                      <a:pPr marL="181610">
                        <a:lnSpc>
                          <a:spcPct val="100000"/>
                        </a:lnSpc>
                        <a:spcBef>
                          <a:spcPts val="1150"/>
                        </a:spcBef>
                      </a:pPr>
                      <a:r>
                        <a:rPr dirty="0" sz="1400" spc="-10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Admin</a:t>
                      </a:r>
                      <a:r>
                        <a:rPr dirty="0" sz="1400" spc="-165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 </a:t>
                      </a:r>
                      <a:r>
                        <a:rPr dirty="0" sz="1400" spc="-10">
                          <a:solidFill>
                            <a:srgbClr val="2B3440"/>
                          </a:solidFill>
                          <a:latin typeface="Verdana"/>
                          <a:cs typeface="Verdana"/>
                        </a:rPr>
                        <a:t>Dashboard</a:t>
                      </a:r>
                      <a:endParaRPr sz="1400">
                        <a:latin typeface="Verdana"/>
                        <a:cs typeface="Verdana"/>
                      </a:endParaRPr>
                    </a:p>
                  </a:txBody>
                  <a:tcPr marL="0" marR="0" marB="0" marT="146050">
                    <a:lnR w="9525">
                      <a:solidFill>
                        <a:srgbClr val="FAF5EB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3515">
                        <a:lnSpc>
                          <a:spcPct val="100000"/>
                        </a:lnSpc>
                      </a:pPr>
                      <a:r>
                        <a:rPr dirty="0" sz="1700" spc="-855">
                          <a:latin typeface="Times New Roman"/>
                          <a:cs typeface="Times New Roman"/>
                        </a:rPr>
                        <a:t>7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endParaRPr sz="150">
                        <a:latin typeface="Times New Roman"/>
                        <a:cs typeface="Times New Roman"/>
                      </a:endParaRPr>
                    </a:p>
                    <a:p>
                      <a:pPr marL="184150">
                        <a:lnSpc>
                          <a:spcPct val="100000"/>
                        </a:lnSpc>
                      </a:pPr>
                      <a:r>
                        <a:rPr dirty="0" sz="1700" spc="-855">
                          <a:latin typeface="Times New Roman"/>
                          <a:cs typeface="Times New Roman"/>
                        </a:rPr>
                        <a:t>o</a:t>
                      </a: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  <a:lnR w="9525">
                      <a:solidFill>
                        <a:srgbClr val="FAF5EB"/>
                      </a:solidFill>
                      <a:prstDash val="solid"/>
                    </a:lnR>
                    <a:solidFill>
                      <a:srgbClr val="000000">
                        <a:alpha val="3919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9525">
                      <a:solidFill>
                        <a:srgbClr val="FAF5EB"/>
                      </a:solidFill>
                      <a:prstDash val="solid"/>
                    </a:lnL>
                  </a:tcPr>
                </a:tc>
              </a:tr>
            </a:tbl>
          </a:graphicData>
        </a:graphic>
      </p:graphicFrame>
      <p:sp>
        <p:nvSpPr>
          <p:cNvPr id="10" name="object 10" descr=""/>
          <p:cNvSpPr txBox="1"/>
          <p:nvPr/>
        </p:nvSpPr>
        <p:spPr>
          <a:xfrm>
            <a:off x="624879" y="4977258"/>
            <a:ext cx="673925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Our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focus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on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superior,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comprehensive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user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experience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gives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us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distinct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advantage.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1" name="object 11" descr="">
            <a:hlinkClick r:id="rId2"/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6438900"/>
          </a:xfrm>
          <a:custGeom>
            <a:avLst/>
            <a:gdLst/>
            <a:ahLst/>
            <a:cxnLst/>
            <a:rect l="l" t="t" r="r" b="b"/>
            <a:pathLst>
              <a:path w="11430000" h="6438900">
                <a:moveTo>
                  <a:pt x="11430000" y="0"/>
                </a:moveTo>
                <a:lnTo>
                  <a:pt x="0" y="0"/>
                </a:lnTo>
                <a:lnTo>
                  <a:pt x="0" y="6438900"/>
                </a:lnTo>
                <a:lnTo>
                  <a:pt x="11430000" y="64389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4879" y="539750"/>
            <a:ext cx="7645400" cy="539750"/>
          </a:xfrm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Core</a:t>
            </a:r>
            <a:r>
              <a:rPr dirty="0" spc="-380"/>
              <a:t> </a:t>
            </a:r>
            <a:r>
              <a:rPr dirty="0" spc="-180"/>
              <a:t>Features:</a:t>
            </a:r>
            <a:r>
              <a:rPr dirty="0" spc="-380"/>
              <a:t> </a:t>
            </a:r>
            <a:r>
              <a:rPr dirty="0" spc="-95"/>
              <a:t>The</a:t>
            </a:r>
            <a:r>
              <a:rPr dirty="0" spc="-375"/>
              <a:t> </a:t>
            </a:r>
            <a:r>
              <a:rPr dirty="0" spc="-110"/>
              <a:t>Heart</a:t>
            </a:r>
            <a:r>
              <a:rPr dirty="0" spc="-380"/>
              <a:t> </a:t>
            </a:r>
            <a:r>
              <a:rPr dirty="0" spc="-45"/>
              <a:t>of</a:t>
            </a:r>
            <a:r>
              <a:rPr dirty="0" spc="-375"/>
              <a:t> </a:t>
            </a:r>
            <a:r>
              <a:rPr dirty="0" spc="-10"/>
              <a:t>EMBRACE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624879" y="1472057"/>
            <a:ext cx="6456680" cy="244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EMBRACE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is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built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with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powerful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modules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designed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efficiency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transparency.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628089" y="1957131"/>
            <a:ext cx="475615" cy="446405"/>
            <a:chOff x="628089" y="1957131"/>
            <a:chExt cx="475615" cy="446405"/>
          </a:xfrm>
        </p:grpSpPr>
        <p:sp>
          <p:nvSpPr>
            <p:cNvPr id="6" name="object 6" descr=""/>
            <p:cNvSpPr/>
            <p:nvPr/>
          </p:nvSpPr>
          <p:spPr>
            <a:xfrm>
              <a:off x="638175" y="1967217"/>
              <a:ext cx="455930" cy="426720"/>
            </a:xfrm>
            <a:custGeom>
              <a:avLst/>
              <a:gdLst/>
              <a:ahLst/>
              <a:cxnLst/>
              <a:rect l="l" t="t" r="r" b="b"/>
              <a:pathLst>
                <a:path w="455930" h="426719">
                  <a:moveTo>
                    <a:pt x="366007" y="425945"/>
                  </a:moveTo>
                  <a:lnTo>
                    <a:pt x="362029" y="426063"/>
                  </a:lnTo>
                  <a:lnTo>
                    <a:pt x="355013" y="426151"/>
                  </a:lnTo>
                  <a:lnTo>
                    <a:pt x="344960" y="426206"/>
                  </a:lnTo>
                  <a:lnTo>
                    <a:pt x="331871" y="426224"/>
                  </a:lnTo>
                </a:path>
                <a:path w="455930" h="426719">
                  <a:moveTo>
                    <a:pt x="12348" y="426186"/>
                  </a:moveTo>
                  <a:lnTo>
                    <a:pt x="0" y="413105"/>
                  </a:lnTo>
                  <a:lnTo>
                    <a:pt x="424" y="395506"/>
                  </a:lnTo>
                  <a:lnTo>
                    <a:pt x="4914" y="354412"/>
                  </a:lnTo>
                  <a:lnTo>
                    <a:pt x="21286" y="316089"/>
                  </a:lnTo>
                  <a:lnTo>
                    <a:pt x="32528" y="300253"/>
                  </a:lnTo>
                  <a:lnTo>
                    <a:pt x="37296" y="294640"/>
                  </a:lnTo>
                </a:path>
                <a:path w="455930" h="426719">
                  <a:moveTo>
                    <a:pt x="294247" y="106807"/>
                  </a:moveTo>
                  <a:lnTo>
                    <a:pt x="294247" y="113817"/>
                  </a:lnTo>
                  <a:lnTo>
                    <a:pt x="293563" y="120764"/>
                  </a:lnTo>
                  <a:lnTo>
                    <a:pt x="292199" y="127647"/>
                  </a:lnTo>
                  <a:lnTo>
                    <a:pt x="290830" y="134518"/>
                  </a:lnTo>
                  <a:lnTo>
                    <a:pt x="288800" y="141198"/>
                  </a:lnTo>
                  <a:lnTo>
                    <a:pt x="286122" y="147675"/>
                  </a:lnTo>
                  <a:lnTo>
                    <a:pt x="283438" y="154165"/>
                  </a:lnTo>
                  <a:lnTo>
                    <a:pt x="258008" y="187286"/>
                  </a:lnTo>
                  <a:lnTo>
                    <a:pt x="221838" y="208165"/>
                  </a:lnTo>
                  <a:lnTo>
                    <a:pt x="208280" y="211556"/>
                  </a:lnTo>
                  <a:lnTo>
                    <a:pt x="201404" y="212928"/>
                  </a:lnTo>
                  <a:lnTo>
                    <a:pt x="194458" y="213614"/>
                  </a:lnTo>
                  <a:lnTo>
                    <a:pt x="187444" y="213614"/>
                  </a:lnTo>
                  <a:lnTo>
                    <a:pt x="180428" y="213614"/>
                  </a:lnTo>
                  <a:lnTo>
                    <a:pt x="173484" y="212928"/>
                  </a:lnTo>
                  <a:lnTo>
                    <a:pt x="166608" y="211556"/>
                  </a:lnTo>
                  <a:lnTo>
                    <a:pt x="159727" y="210197"/>
                  </a:lnTo>
                  <a:lnTo>
                    <a:pt x="122271" y="191719"/>
                  </a:lnTo>
                  <a:lnTo>
                    <a:pt x="98638" y="166141"/>
                  </a:lnTo>
                  <a:lnTo>
                    <a:pt x="94744" y="160312"/>
                  </a:lnTo>
                  <a:lnTo>
                    <a:pt x="91450" y="154165"/>
                  </a:lnTo>
                  <a:lnTo>
                    <a:pt x="88766" y="147675"/>
                  </a:lnTo>
                  <a:lnTo>
                    <a:pt x="86081" y="141198"/>
                  </a:lnTo>
                  <a:lnTo>
                    <a:pt x="84058" y="134518"/>
                  </a:lnTo>
                  <a:lnTo>
                    <a:pt x="82688" y="127647"/>
                  </a:lnTo>
                  <a:lnTo>
                    <a:pt x="81319" y="120764"/>
                  </a:lnTo>
                  <a:lnTo>
                    <a:pt x="80639" y="113817"/>
                  </a:lnTo>
                  <a:lnTo>
                    <a:pt x="80639" y="106807"/>
                  </a:lnTo>
                  <a:lnTo>
                    <a:pt x="80639" y="99796"/>
                  </a:lnTo>
                  <a:lnTo>
                    <a:pt x="88766" y="65938"/>
                  </a:lnTo>
                  <a:lnTo>
                    <a:pt x="91450" y="59461"/>
                  </a:lnTo>
                  <a:lnTo>
                    <a:pt x="94744" y="53301"/>
                  </a:lnTo>
                  <a:lnTo>
                    <a:pt x="98638" y="47472"/>
                  </a:lnTo>
                  <a:lnTo>
                    <a:pt x="102532" y="41630"/>
                  </a:lnTo>
                  <a:lnTo>
                    <a:pt x="128106" y="17995"/>
                  </a:lnTo>
                  <a:lnTo>
                    <a:pt x="133935" y="14097"/>
                  </a:lnTo>
                  <a:lnTo>
                    <a:pt x="166608" y="2057"/>
                  </a:lnTo>
                  <a:lnTo>
                    <a:pt x="173484" y="685"/>
                  </a:lnTo>
                  <a:lnTo>
                    <a:pt x="180428" y="0"/>
                  </a:lnTo>
                  <a:lnTo>
                    <a:pt x="187444" y="0"/>
                  </a:lnTo>
                  <a:lnTo>
                    <a:pt x="194458" y="0"/>
                  </a:lnTo>
                  <a:lnTo>
                    <a:pt x="201404" y="685"/>
                  </a:lnTo>
                  <a:lnTo>
                    <a:pt x="208280" y="2057"/>
                  </a:lnTo>
                  <a:lnTo>
                    <a:pt x="215160" y="3416"/>
                  </a:lnTo>
                  <a:lnTo>
                    <a:pt x="221838" y="5448"/>
                  </a:lnTo>
                  <a:lnTo>
                    <a:pt x="228316" y="8128"/>
                  </a:lnTo>
                  <a:lnTo>
                    <a:pt x="234796" y="10807"/>
                  </a:lnTo>
                  <a:lnTo>
                    <a:pt x="240953" y="14097"/>
                  </a:lnTo>
                  <a:lnTo>
                    <a:pt x="246781" y="17995"/>
                  </a:lnTo>
                  <a:lnTo>
                    <a:pt x="252610" y="21894"/>
                  </a:lnTo>
                  <a:lnTo>
                    <a:pt x="276250" y="47472"/>
                  </a:lnTo>
                  <a:lnTo>
                    <a:pt x="280144" y="53301"/>
                  </a:lnTo>
                  <a:lnTo>
                    <a:pt x="293563" y="92849"/>
                  </a:lnTo>
                  <a:lnTo>
                    <a:pt x="294247" y="99796"/>
                  </a:lnTo>
                  <a:lnTo>
                    <a:pt x="294247" y="106807"/>
                  </a:lnTo>
                  <a:close/>
                </a:path>
                <a:path w="455930" h="426719">
                  <a:moveTo>
                    <a:pt x="396869" y="117513"/>
                  </a:moveTo>
                  <a:lnTo>
                    <a:pt x="396924" y="179247"/>
                  </a:lnTo>
                </a:path>
                <a:path w="455930" h="426719">
                  <a:moveTo>
                    <a:pt x="335631" y="179793"/>
                  </a:moveTo>
                  <a:lnTo>
                    <a:pt x="395565" y="179311"/>
                  </a:lnTo>
                </a:path>
                <a:path w="455930" h="426719">
                  <a:moveTo>
                    <a:pt x="397018" y="242735"/>
                  </a:moveTo>
                  <a:lnTo>
                    <a:pt x="395565" y="179311"/>
                  </a:lnTo>
                </a:path>
                <a:path w="455930" h="426719">
                  <a:moveTo>
                    <a:pt x="396924" y="179247"/>
                  </a:moveTo>
                  <a:lnTo>
                    <a:pt x="455414" y="179806"/>
                  </a:lnTo>
                </a:path>
                <a:path w="455930" h="426719">
                  <a:moveTo>
                    <a:pt x="366007" y="425945"/>
                  </a:moveTo>
                  <a:lnTo>
                    <a:pt x="370298" y="425488"/>
                  </a:lnTo>
                </a:path>
                <a:path w="455930" h="426719">
                  <a:moveTo>
                    <a:pt x="37142" y="294487"/>
                  </a:moveTo>
                  <a:lnTo>
                    <a:pt x="74161" y="264780"/>
                  </a:lnTo>
                  <a:lnTo>
                    <a:pt x="118456" y="247259"/>
                  </a:lnTo>
                  <a:lnTo>
                    <a:pt x="134035" y="244490"/>
                  </a:lnTo>
                  <a:lnTo>
                    <a:pt x="149974" y="243281"/>
                  </a:lnTo>
                </a:path>
                <a:path w="455930" h="426719">
                  <a:moveTo>
                    <a:pt x="149974" y="243332"/>
                  </a:moveTo>
                  <a:lnTo>
                    <a:pt x="236220" y="243992"/>
                  </a:lnTo>
                </a:path>
                <a:path w="455930" h="426719">
                  <a:moveTo>
                    <a:pt x="331871" y="426224"/>
                  </a:moveTo>
                  <a:lnTo>
                    <a:pt x="12348" y="426186"/>
                  </a:lnTo>
                </a:path>
              </a:pathLst>
            </a:custGeom>
            <a:ln w="20170">
              <a:solidFill>
                <a:srgbClr val="3270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4284" y="2201467"/>
              <a:ext cx="159587" cy="201323"/>
            </a:xfrm>
            <a:prstGeom prst="rect">
              <a:avLst/>
            </a:prstGeom>
          </p:spPr>
        </p:pic>
      </p:grpSp>
      <p:sp>
        <p:nvSpPr>
          <p:cNvPr id="8" name="object 8" descr=""/>
          <p:cNvSpPr txBox="1"/>
          <p:nvPr/>
        </p:nvSpPr>
        <p:spPr>
          <a:xfrm>
            <a:off x="1307998" y="2039937"/>
            <a:ext cx="411734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User</a:t>
            </a:r>
            <a:r>
              <a:rPr dirty="0" sz="1650" spc="-19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Onboarding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Guided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registration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profile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creation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2B3440"/>
                </a:solidFill>
                <a:latin typeface="Verdana"/>
                <a:cs typeface="Verdana"/>
              </a:rPr>
              <a:t>smooth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start.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5974016" y="2137168"/>
            <a:ext cx="175895" cy="132080"/>
          </a:xfrm>
          <a:custGeom>
            <a:avLst/>
            <a:gdLst/>
            <a:ahLst/>
            <a:cxnLst/>
            <a:rect l="l" t="t" r="r" b="b"/>
            <a:pathLst>
              <a:path w="175895" h="132080">
                <a:moveTo>
                  <a:pt x="55397" y="131660"/>
                </a:moveTo>
                <a:lnTo>
                  <a:pt x="175666" y="0"/>
                </a:lnTo>
              </a:path>
              <a:path w="175895" h="132080">
                <a:moveTo>
                  <a:pt x="0" y="72034"/>
                </a:moveTo>
                <a:lnTo>
                  <a:pt x="55397" y="131660"/>
                </a:lnTo>
              </a:path>
            </a:pathLst>
          </a:custGeom>
          <a:ln w="20160">
            <a:solidFill>
              <a:srgbClr val="3270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889371" y="1952624"/>
            <a:ext cx="335280" cy="455930"/>
          </a:xfrm>
          <a:custGeom>
            <a:avLst/>
            <a:gdLst/>
            <a:ahLst/>
            <a:cxnLst/>
            <a:rect l="l" t="t" r="r" b="b"/>
            <a:pathLst>
              <a:path w="335279" h="455930">
                <a:moveTo>
                  <a:pt x="312940" y="61836"/>
                </a:moveTo>
                <a:lnTo>
                  <a:pt x="334797" y="83566"/>
                </a:lnTo>
                <a:lnTo>
                  <a:pt x="334873" y="86702"/>
                </a:lnTo>
              </a:path>
              <a:path w="335279" h="455930">
                <a:moveTo>
                  <a:pt x="253352" y="61709"/>
                </a:moveTo>
                <a:lnTo>
                  <a:pt x="229196" y="52171"/>
                </a:lnTo>
                <a:lnTo>
                  <a:pt x="217652" y="51904"/>
                </a:lnTo>
              </a:path>
              <a:path w="335279" h="455930">
                <a:moveTo>
                  <a:pt x="117919" y="51777"/>
                </a:moveTo>
                <a:lnTo>
                  <a:pt x="111340" y="52260"/>
                </a:lnTo>
                <a:lnTo>
                  <a:pt x="100685" y="52336"/>
                </a:lnTo>
                <a:lnTo>
                  <a:pt x="93738" y="53644"/>
                </a:lnTo>
                <a:lnTo>
                  <a:pt x="90639" y="54775"/>
                </a:lnTo>
                <a:lnTo>
                  <a:pt x="87337" y="56692"/>
                </a:lnTo>
                <a:lnTo>
                  <a:pt x="81661" y="61734"/>
                </a:lnTo>
              </a:path>
              <a:path w="335279" h="455930">
                <a:moveTo>
                  <a:pt x="28638" y="455231"/>
                </a:moveTo>
                <a:lnTo>
                  <a:pt x="330" y="428929"/>
                </a:lnTo>
                <a:lnTo>
                  <a:pt x="317" y="416661"/>
                </a:lnTo>
              </a:path>
              <a:path w="335279" h="455930">
                <a:moveTo>
                  <a:pt x="78740" y="64579"/>
                </a:moveTo>
                <a:lnTo>
                  <a:pt x="76898" y="104482"/>
                </a:lnTo>
              </a:path>
              <a:path w="335279" h="455930">
                <a:moveTo>
                  <a:pt x="257784" y="104648"/>
                </a:moveTo>
                <a:lnTo>
                  <a:pt x="76898" y="104482"/>
                </a:lnTo>
              </a:path>
              <a:path w="335279" h="455930">
                <a:moveTo>
                  <a:pt x="257784" y="104648"/>
                </a:moveTo>
                <a:lnTo>
                  <a:pt x="256184" y="64643"/>
                </a:lnTo>
              </a:path>
              <a:path w="335279" h="455930">
                <a:moveTo>
                  <a:pt x="217779" y="51904"/>
                </a:moveTo>
                <a:lnTo>
                  <a:pt x="203809" y="15341"/>
                </a:lnTo>
                <a:lnTo>
                  <a:pt x="187363" y="4000"/>
                </a:lnTo>
                <a:lnTo>
                  <a:pt x="184264" y="2679"/>
                </a:lnTo>
                <a:lnTo>
                  <a:pt x="181076" y="1689"/>
                </a:lnTo>
                <a:lnTo>
                  <a:pt x="177774" y="1016"/>
                </a:lnTo>
                <a:lnTo>
                  <a:pt x="174485" y="342"/>
                </a:lnTo>
                <a:lnTo>
                  <a:pt x="171157" y="0"/>
                </a:lnTo>
                <a:lnTo>
                  <a:pt x="167792" y="0"/>
                </a:lnTo>
                <a:lnTo>
                  <a:pt x="164426" y="0"/>
                </a:lnTo>
                <a:lnTo>
                  <a:pt x="129413" y="17678"/>
                </a:lnTo>
                <a:lnTo>
                  <a:pt x="125526" y="23139"/>
                </a:lnTo>
                <a:lnTo>
                  <a:pt x="123710" y="25971"/>
                </a:lnTo>
                <a:lnTo>
                  <a:pt x="118351" y="41783"/>
                </a:lnTo>
                <a:lnTo>
                  <a:pt x="117792" y="45085"/>
                </a:lnTo>
                <a:lnTo>
                  <a:pt x="117576" y="48425"/>
                </a:lnTo>
                <a:lnTo>
                  <a:pt x="117690" y="51790"/>
                </a:lnTo>
              </a:path>
              <a:path w="335279" h="455930">
                <a:moveTo>
                  <a:pt x="335191" y="430860"/>
                </a:moveTo>
                <a:lnTo>
                  <a:pt x="325221" y="450113"/>
                </a:lnTo>
                <a:lnTo>
                  <a:pt x="322224" y="452424"/>
                </a:lnTo>
                <a:lnTo>
                  <a:pt x="318871" y="453986"/>
                </a:lnTo>
                <a:lnTo>
                  <a:pt x="315163" y="454812"/>
                </a:lnTo>
                <a:lnTo>
                  <a:pt x="311454" y="455625"/>
                </a:lnTo>
                <a:lnTo>
                  <a:pt x="307759" y="455625"/>
                </a:lnTo>
                <a:lnTo>
                  <a:pt x="304050" y="454799"/>
                </a:lnTo>
              </a:path>
              <a:path w="335279" h="455930">
                <a:moveTo>
                  <a:pt x="255689" y="61709"/>
                </a:moveTo>
                <a:lnTo>
                  <a:pt x="312940" y="61836"/>
                </a:lnTo>
              </a:path>
              <a:path w="335279" h="455930">
                <a:moveTo>
                  <a:pt x="303961" y="455244"/>
                </a:moveTo>
                <a:lnTo>
                  <a:pt x="28638" y="455231"/>
                </a:lnTo>
              </a:path>
              <a:path w="335279" h="455930">
                <a:moveTo>
                  <a:pt x="334873" y="86702"/>
                </a:moveTo>
                <a:lnTo>
                  <a:pt x="335013" y="430860"/>
                </a:lnTo>
              </a:path>
              <a:path w="335279" h="455930">
                <a:moveTo>
                  <a:pt x="317" y="416661"/>
                </a:moveTo>
                <a:lnTo>
                  <a:pt x="317" y="87757"/>
                </a:lnTo>
              </a:path>
              <a:path w="335279" h="455930">
                <a:moveTo>
                  <a:pt x="127" y="87769"/>
                </a:moveTo>
                <a:lnTo>
                  <a:pt x="0" y="85763"/>
                </a:lnTo>
                <a:lnTo>
                  <a:pt x="114" y="83781"/>
                </a:lnTo>
                <a:lnTo>
                  <a:pt x="469" y="81800"/>
                </a:lnTo>
                <a:lnTo>
                  <a:pt x="825" y="79832"/>
                </a:lnTo>
                <a:lnTo>
                  <a:pt x="1409" y="77927"/>
                </a:lnTo>
                <a:lnTo>
                  <a:pt x="2222" y="76098"/>
                </a:lnTo>
                <a:lnTo>
                  <a:pt x="3035" y="74269"/>
                </a:lnTo>
                <a:lnTo>
                  <a:pt x="14592" y="63639"/>
                </a:lnTo>
                <a:lnTo>
                  <a:pt x="16408" y="62801"/>
                </a:lnTo>
                <a:lnTo>
                  <a:pt x="18300" y="62204"/>
                </a:lnTo>
                <a:lnTo>
                  <a:pt x="20281" y="61836"/>
                </a:lnTo>
                <a:lnTo>
                  <a:pt x="22250" y="61468"/>
                </a:lnTo>
                <a:lnTo>
                  <a:pt x="24231" y="61341"/>
                </a:lnTo>
                <a:lnTo>
                  <a:pt x="26238" y="61442"/>
                </a:lnTo>
                <a:lnTo>
                  <a:pt x="28232" y="61556"/>
                </a:lnTo>
                <a:lnTo>
                  <a:pt x="30187" y="61912"/>
                </a:lnTo>
                <a:lnTo>
                  <a:pt x="32105" y="62496"/>
                </a:lnTo>
              </a:path>
              <a:path w="335279" h="455930">
                <a:moveTo>
                  <a:pt x="32334" y="61747"/>
                </a:moveTo>
                <a:lnTo>
                  <a:pt x="79159" y="61734"/>
                </a:lnTo>
              </a:path>
            </a:pathLst>
          </a:custGeom>
          <a:ln w="20160">
            <a:solidFill>
              <a:srgbClr val="3270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 txBox="1"/>
          <p:nvPr/>
        </p:nvSpPr>
        <p:spPr>
          <a:xfrm>
            <a:off x="6499275" y="2039937"/>
            <a:ext cx="395414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65">
                <a:solidFill>
                  <a:srgbClr val="2B3440"/>
                </a:solidFill>
                <a:latin typeface="Verdana"/>
                <a:cs typeface="Verdana"/>
              </a:rPr>
              <a:t>Dynamic</a:t>
            </a:r>
            <a:r>
              <a:rPr dirty="0" sz="165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2B3440"/>
                </a:solidFill>
                <a:latin typeface="Verdana"/>
                <a:cs typeface="Verdana"/>
              </a:rPr>
              <a:t>Enrollment</a:t>
            </a:r>
            <a:r>
              <a:rPr dirty="0" sz="165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B3440"/>
                </a:solidFill>
                <a:latin typeface="Verdana"/>
                <a:cs typeface="Verdana"/>
              </a:rPr>
              <a:t>Forms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Intelligent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forms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that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adapt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user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input,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B3440"/>
                </a:solidFill>
                <a:latin typeface="Verdana"/>
                <a:cs typeface="Verdana"/>
              </a:rPr>
              <a:t>reducing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errors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35">
                <a:solidFill>
                  <a:srgbClr val="2B3440"/>
                </a:solidFill>
                <a:latin typeface="Verdana"/>
                <a:cs typeface="Verdana"/>
              </a:rPr>
              <a:t>complexity.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2" name="object 12" descr=""/>
          <p:cNvGrpSpPr/>
          <p:nvPr/>
        </p:nvGrpSpPr>
        <p:grpSpPr>
          <a:xfrm>
            <a:off x="628017" y="3404958"/>
            <a:ext cx="476250" cy="418465"/>
            <a:chOff x="628017" y="3404958"/>
            <a:chExt cx="476250" cy="418465"/>
          </a:xfrm>
        </p:grpSpPr>
        <p:sp>
          <p:nvSpPr>
            <p:cNvPr id="13" name="object 13" descr=""/>
            <p:cNvSpPr/>
            <p:nvPr/>
          </p:nvSpPr>
          <p:spPr>
            <a:xfrm>
              <a:off x="791766" y="3560127"/>
              <a:ext cx="46355" cy="38100"/>
            </a:xfrm>
            <a:custGeom>
              <a:avLst/>
              <a:gdLst/>
              <a:ahLst/>
              <a:cxnLst/>
              <a:rect l="l" t="t" r="r" b="b"/>
              <a:pathLst>
                <a:path w="46355" h="38100">
                  <a:moveTo>
                    <a:pt x="45878" y="27787"/>
                  </a:moveTo>
                  <a:lnTo>
                    <a:pt x="23162" y="0"/>
                  </a:lnTo>
                  <a:lnTo>
                    <a:pt x="18082" y="533"/>
                  </a:lnTo>
                  <a:lnTo>
                    <a:pt x="0" y="23901"/>
                  </a:lnTo>
                  <a:lnTo>
                    <a:pt x="812" y="28994"/>
                  </a:lnTo>
                  <a:lnTo>
                    <a:pt x="3308" y="37553"/>
                  </a:lnTo>
                </a:path>
              </a:pathLst>
            </a:custGeom>
            <a:ln w="20315">
              <a:solidFill>
                <a:srgbClr val="3270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4" name="object 14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037214" y="3445042"/>
              <a:ext cx="66740" cy="66378"/>
            </a:xfrm>
            <a:prstGeom prst="rect">
              <a:avLst/>
            </a:prstGeom>
          </p:spPr>
        </p:pic>
        <p:sp>
          <p:nvSpPr>
            <p:cNvPr id="15" name="object 15" descr=""/>
            <p:cNvSpPr/>
            <p:nvPr/>
          </p:nvSpPr>
          <p:spPr>
            <a:xfrm>
              <a:off x="638175" y="3404958"/>
              <a:ext cx="454025" cy="408305"/>
            </a:xfrm>
            <a:custGeom>
              <a:avLst/>
              <a:gdLst/>
              <a:ahLst/>
              <a:cxnLst/>
              <a:rect l="l" t="t" r="r" b="b"/>
              <a:pathLst>
                <a:path w="454025" h="408304">
                  <a:moveTo>
                    <a:pt x="0" y="0"/>
                  </a:moveTo>
                  <a:lnTo>
                    <a:pt x="124" y="408241"/>
                  </a:lnTo>
                </a:path>
                <a:path w="454025" h="408304">
                  <a:moveTo>
                    <a:pt x="453454" y="408216"/>
                  </a:moveTo>
                  <a:lnTo>
                    <a:pt x="124" y="408241"/>
                  </a:lnTo>
                </a:path>
              </a:pathLst>
            </a:custGeom>
            <a:ln w="20315">
              <a:solidFill>
                <a:srgbClr val="3270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72779" y="3479713"/>
              <a:ext cx="391558" cy="242933"/>
            </a:xfrm>
            <a:prstGeom prst="rect">
              <a:avLst/>
            </a:prstGeom>
          </p:spPr>
        </p:pic>
      </p:grpSp>
      <p:sp>
        <p:nvSpPr>
          <p:cNvPr id="17" name="object 17" descr=""/>
          <p:cNvSpPr txBox="1"/>
          <p:nvPr/>
        </p:nvSpPr>
        <p:spPr>
          <a:xfrm>
            <a:off x="1307998" y="3478212"/>
            <a:ext cx="420624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Profile</a:t>
            </a:r>
            <a:r>
              <a:rPr dirty="0" sz="1650" spc="-19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8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45">
                <a:solidFill>
                  <a:srgbClr val="2B3440"/>
                </a:solidFill>
                <a:latin typeface="Verdana"/>
                <a:cs typeface="Verdana"/>
              </a:rPr>
              <a:t>Progress</a:t>
            </a:r>
            <a:r>
              <a:rPr dirty="0" sz="1650" spc="-19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Tracking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Users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can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monitor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their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application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status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2B3440"/>
                </a:solidFill>
                <a:latin typeface="Verdana"/>
                <a:cs typeface="Verdana"/>
              </a:rPr>
              <a:t>update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profiles</a:t>
            </a:r>
            <a:r>
              <a:rPr dirty="0" sz="1400" spc="-20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easily.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18" name="object 18" descr=""/>
          <p:cNvSpPr/>
          <p:nvPr/>
        </p:nvSpPr>
        <p:spPr>
          <a:xfrm>
            <a:off x="5850661" y="3381375"/>
            <a:ext cx="412750" cy="455930"/>
          </a:xfrm>
          <a:custGeom>
            <a:avLst/>
            <a:gdLst/>
            <a:ahLst/>
            <a:cxnLst/>
            <a:rect l="l" t="t" r="r" b="b"/>
            <a:pathLst>
              <a:path w="412750" h="455929">
                <a:moveTo>
                  <a:pt x="134327" y="378142"/>
                </a:moveTo>
                <a:lnTo>
                  <a:pt x="204406" y="378028"/>
                </a:lnTo>
              </a:path>
              <a:path w="412750" h="455929">
                <a:moveTo>
                  <a:pt x="354304" y="378028"/>
                </a:moveTo>
                <a:lnTo>
                  <a:pt x="393489" y="376097"/>
                </a:lnTo>
                <a:lnTo>
                  <a:pt x="412559" y="351396"/>
                </a:lnTo>
                <a:lnTo>
                  <a:pt x="412457" y="347256"/>
                </a:lnTo>
                <a:lnTo>
                  <a:pt x="411645" y="343052"/>
                </a:lnTo>
                <a:lnTo>
                  <a:pt x="410032" y="338391"/>
                </a:lnTo>
              </a:path>
              <a:path w="412750" h="455929">
                <a:moveTo>
                  <a:pt x="284594" y="378104"/>
                </a:moveTo>
                <a:lnTo>
                  <a:pt x="273761" y="415607"/>
                </a:lnTo>
                <a:lnTo>
                  <a:pt x="246951" y="443750"/>
                </a:lnTo>
                <a:lnTo>
                  <a:pt x="206108" y="455409"/>
                </a:lnTo>
                <a:lnTo>
                  <a:pt x="198501" y="455066"/>
                </a:lnTo>
                <a:lnTo>
                  <a:pt x="158026" y="438289"/>
                </a:lnTo>
                <a:lnTo>
                  <a:pt x="133819" y="404780"/>
                </a:lnTo>
                <a:lnTo>
                  <a:pt x="130026" y="390053"/>
                </a:lnTo>
                <a:lnTo>
                  <a:pt x="127711" y="378167"/>
                </a:lnTo>
              </a:path>
              <a:path w="412750" h="455929">
                <a:moveTo>
                  <a:pt x="410032" y="338391"/>
                </a:moveTo>
                <a:lnTo>
                  <a:pt x="408236" y="335342"/>
                </a:lnTo>
                <a:lnTo>
                  <a:pt x="405056" y="330912"/>
                </a:lnTo>
                <a:lnTo>
                  <a:pt x="399863" y="324466"/>
                </a:lnTo>
                <a:lnTo>
                  <a:pt x="392023" y="315366"/>
                </a:lnTo>
                <a:lnTo>
                  <a:pt x="384760" y="305474"/>
                </a:lnTo>
                <a:lnTo>
                  <a:pt x="361747" y="265434"/>
                </a:lnTo>
                <a:lnTo>
                  <a:pt x="348983" y="229489"/>
                </a:lnTo>
                <a:lnTo>
                  <a:pt x="345579" y="213766"/>
                </a:lnTo>
              </a:path>
              <a:path w="412750" h="455929">
                <a:moveTo>
                  <a:pt x="342049" y="157276"/>
                </a:moveTo>
                <a:lnTo>
                  <a:pt x="334743" y="118751"/>
                </a:lnTo>
                <a:lnTo>
                  <a:pt x="316204" y="83350"/>
                </a:lnTo>
                <a:lnTo>
                  <a:pt x="285043" y="53317"/>
                </a:lnTo>
                <a:lnTo>
                  <a:pt x="249643" y="35433"/>
                </a:lnTo>
                <a:lnTo>
                  <a:pt x="208849" y="29767"/>
                </a:lnTo>
                <a:lnTo>
                  <a:pt x="197916" y="30008"/>
                </a:lnTo>
                <a:lnTo>
                  <a:pt x="155270" y="38176"/>
                </a:lnTo>
                <a:lnTo>
                  <a:pt x="118365" y="60097"/>
                </a:lnTo>
                <a:lnTo>
                  <a:pt x="91154" y="90717"/>
                </a:lnTo>
                <a:lnTo>
                  <a:pt x="75036" y="127077"/>
                </a:lnTo>
                <a:lnTo>
                  <a:pt x="69822" y="167865"/>
                </a:lnTo>
                <a:lnTo>
                  <a:pt x="69227" y="188937"/>
                </a:lnTo>
                <a:lnTo>
                  <a:pt x="67883" y="200369"/>
                </a:lnTo>
                <a:lnTo>
                  <a:pt x="58462" y="243809"/>
                </a:lnTo>
                <a:lnTo>
                  <a:pt x="41572" y="283771"/>
                </a:lnTo>
                <a:lnTo>
                  <a:pt x="17554" y="318302"/>
                </a:lnTo>
                <a:lnTo>
                  <a:pt x="6400" y="331685"/>
                </a:lnTo>
                <a:lnTo>
                  <a:pt x="2590" y="337997"/>
                </a:lnTo>
                <a:lnTo>
                  <a:pt x="774" y="343065"/>
                </a:lnTo>
                <a:lnTo>
                  <a:pt x="152" y="346290"/>
                </a:lnTo>
                <a:lnTo>
                  <a:pt x="0" y="350177"/>
                </a:lnTo>
                <a:lnTo>
                  <a:pt x="800" y="357136"/>
                </a:lnTo>
                <a:lnTo>
                  <a:pt x="25730" y="377659"/>
                </a:lnTo>
                <a:lnTo>
                  <a:pt x="30822" y="378028"/>
                </a:lnTo>
              </a:path>
              <a:path w="412750" h="455929">
                <a:moveTo>
                  <a:pt x="206044" y="29324"/>
                </a:moveTo>
                <a:lnTo>
                  <a:pt x="206095" y="0"/>
                </a:lnTo>
              </a:path>
              <a:path w="412750" h="455929">
                <a:moveTo>
                  <a:pt x="345579" y="213766"/>
                </a:moveTo>
                <a:lnTo>
                  <a:pt x="342049" y="157276"/>
                </a:lnTo>
              </a:path>
              <a:path w="412750" h="455929">
                <a:moveTo>
                  <a:pt x="204406" y="378028"/>
                </a:moveTo>
                <a:lnTo>
                  <a:pt x="354304" y="378028"/>
                </a:lnTo>
              </a:path>
              <a:path w="412750" h="455929">
                <a:moveTo>
                  <a:pt x="30822" y="378028"/>
                </a:moveTo>
                <a:lnTo>
                  <a:pt x="134327" y="378142"/>
                </a:lnTo>
              </a:path>
            </a:pathLst>
          </a:custGeom>
          <a:ln w="20170">
            <a:solidFill>
              <a:srgbClr val="3270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 descr=""/>
          <p:cNvSpPr txBox="1"/>
          <p:nvPr/>
        </p:nvSpPr>
        <p:spPr>
          <a:xfrm>
            <a:off x="6499275" y="3478212"/>
            <a:ext cx="363474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Alerts</a:t>
            </a:r>
            <a:r>
              <a:rPr dirty="0" sz="1650" spc="-20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8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r>
              <a:rPr dirty="0" sz="1650" spc="-20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Notifications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8400"/>
              </a:lnSpc>
              <a:spcBef>
                <a:spcPts val="550"/>
              </a:spcBef>
            </a:pP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Automated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reminders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updates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keep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0">
                <a:solidFill>
                  <a:srgbClr val="2B3440"/>
                </a:solidFill>
                <a:latin typeface="Verdana"/>
                <a:cs typeface="Verdana"/>
              </a:rPr>
              <a:t>users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informed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at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2B3440"/>
                </a:solidFill>
                <a:latin typeface="Verdana"/>
                <a:cs typeface="Verdana"/>
              </a:rPr>
              <a:t>every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stage.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632450" y="4809555"/>
            <a:ext cx="466725" cy="475615"/>
            <a:chOff x="632450" y="4809555"/>
            <a:chExt cx="466725" cy="475615"/>
          </a:xfrm>
        </p:grpSpPr>
        <p:sp>
          <p:nvSpPr>
            <p:cNvPr id="21" name="object 21" descr=""/>
            <p:cNvSpPr/>
            <p:nvPr/>
          </p:nvSpPr>
          <p:spPr>
            <a:xfrm>
              <a:off x="673541" y="5182543"/>
              <a:ext cx="101600" cy="17780"/>
            </a:xfrm>
            <a:custGeom>
              <a:avLst/>
              <a:gdLst/>
              <a:ahLst/>
              <a:cxnLst/>
              <a:rect l="l" t="t" r="r" b="b"/>
              <a:pathLst>
                <a:path w="101600" h="17779">
                  <a:moveTo>
                    <a:pt x="101346" y="7440"/>
                  </a:moveTo>
                  <a:lnTo>
                    <a:pt x="94177" y="4728"/>
                  </a:lnTo>
                  <a:lnTo>
                    <a:pt x="87300" y="2574"/>
                  </a:lnTo>
                  <a:lnTo>
                    <a:pt x="80713" y="993"/>
                  </a:lnTo>
                  <a:lnTo>
                    <a:pt x="74418" y="0"/>
                  </a:lnTo>
                  <a:lnTo>
                    <a:pt x="68827" y="322"/>
                  </a:lnTo>
                  <a:lnTo>
                    <a:pt x="62938" y="1512"/>
                  </a:lnTo>
                  <a:lnTo>
                    <a:pt x="56226" y="3914"/>
                  </a:lnTo>
                  <a:lnTo>
                    <a:pt x="50883" y="6543"/>
                  </a:lnTo>
                  <a:lnTo>
                    <a:pt x="41592" y="12104"/>
                  </a:lnTo>
                  <a:lnTo>
                    <a:pt x="36125" y="14659"/>
                  </a:lnTo>
                  <a:lnTo>
                    <a:pt x="28638" y="16733"/>
                  </a:lnTo>
                  <a:lnTo>
                    <a:pt x="23445" y="17160"/>
                  </a:lnTo>
                  <a:lnTo>
                    <a:pt x="17045" y="16167"/>
                  </a:lnTo>
                  <a:lnTo>
                    <a:pt x="2857" y="6696"/>
                  </a:lnTo>
                  <a:lnTo>
                    <a:pt x="0" y="2877"/>
                  </a:lnTo>
                </a:path>
              </a:pathLst>
            </a:custGeom>
            <a:ln w="20189">
              <a:solidFill>
                <a:srgbClr val="3270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2" name="object 22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32450" y="4809555"/>
              <a:ext cx="218027" cy="338667"/>
            </a:xfrm>
            <a:prstGeom prst="rect">
              <a:avLst/>
            </a:prstGeom>
          </p:spPr>
        </p:pic>
        <p:pic>
          <p:nvPicPr>
            <p:cNvPr id="23" name="object 23" descr="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93222" y="4812234"/>
              <a:ext cx="175169" cy="108162"/>
            </a:xfrm>
            <a:prstGeom prst="rect">
              <a:avLst/>
            </a:prstGeom>
          </p:spPr>
        </p:pic>
        <p:sp>
          <p:nvSpPr>
            <p:cNvPr id="24" name="object 24" descr=""/>
            <p:cNvSpPr/>
            <p:nvPr/>
          </p:nvSpPr>
          <p:spPr>
            <a:xfrm>
              <a:off x="774887" y="4947615"/>
              <a:ext cx="314325" cy="327660"/>
            </a:xfrm>
            <a:custGeom>
              <a:avLst/>
              <a:gdLst/>
              <a:ahLst/>
              <a:cxnLst/>
              <a:rect l="l" t="t" r="r" b="b"/>
              <a:pathLst>
                <a:path w="314325" h="327660">
                  <a:moveTo>
                    <a:pt x="310615" y="0"/>
                  </a:moveTo>
                  <a:lnTo>
                    <a:pt x="312460" y="5080"/>
                  </a:lnTo>
                  <a:lnTo>
                    <a:pt x="313582" y="11976"/>
                  </a:lnTo>
                  <a:lnTo>
                    <a:pt x="313159" y="17995"/>
                  </a:lnTo>
                  <a:lnTo>
                    <a:pt x="292154" y="43967"/>
                  </a:lnTo>
                  <a:lnTo>
                    <a:pt x="286698" y="48615"/>
                  </a:lnTo>
                  <a:lnTo>
                    <a:pt x="269137" y="89613"/>
                  </a:lnTo>
                  <a:lnTo>
                    <a:pt x="268763" y="98806"/>
                  </a:lnTo>
                  <a:lnTo>
                    <a:pt x="269159" y="105931"/>
                  </a:lnTo>
                  <a:lnTo>
                    <a:pt x="284317" y="143141"/>
                  </a:lnTo>
                  <a:lnTo>
                    <a:pt x="295075" y="152180"/>
                  </a:lnTo>
                  <a:lnTo>
                    <a:pt x="302514" y="158807"/>
                  </a:lnTo>
                  <a:lnTo>
                    <a:pt x="313988" y="182664"/>
                  </a:lnTo>
                  <a:lnTo>
                    <a:pt x="313660" y="185458"/>
                  </a:lnTo>
                  <a:lnTo>
                    <a:pt x="287153" y="231908"/>
                  </a:lnTo>
                  <a:lnTo>
                    <a:pt x="259660" y="251675"/>
                  </a:lnTo>
                  <a:lnTo>
                    <a:pt x="255339" y="251418"/>
                  </a:lnTo>
                  <a:lnTo>
                    <a:pt x="251079" y="250506"/>
                  </a:lnTo>
                  <a:lnTo>
                    <a:pt x="243563" y="247594"/>
                  </a:lnTo>
                  <a:lnTo>
                    <a:pt x="234309" y="242581"/>
                  </a:lnTo>
                  <a:lnTo>
                    <a:pt x="227132" y="238964"/>
                  </a:lnTo>
                  <a:lnTo>
                    <a:pt x="221508" y="236483"/>
                  </a:lnTo>
                  <a:lnTo>
                    <a:pt x="216912" y="234878"/>
                  </a:lnTo>
                  <a:lnTo>
                    <a:pt x="211639" y="234537"/>
                  </a:lnTo>
                  <a:lnTo>
                    <a:pt x="205803" y="234828"/>
                  </a:lnTo>
                  <a:lnTo>
                    <a:pt x="170096" y="248896"/>
                  </a:lnTo>
                  <a:lnTo>
                    <a:pt x="146169" y="283987"/>
                  </a:lnTo>
                  <a:lnTo>
                    <a:pt x="145211" y="297550"/>
                  </a:lnTo>
                  <a:lnTo>
                    <a:pt x="144368" y="302738"/>
                  </a:lnTo>
                  <a:lnTo>
                    <a:pt x="122129" y="326636"/>
                  </a:lnTo>
                  <a:lnTo>
                    <a:pt x="114989" y="327450"/>
                  </a:lnTo>
                </a:path>
                <a:path w="314325" h="327660">
                  <a:moveTo>
                    <a:pt x="57180" y="326090"/>
                  </a:moveTo>
                  <a:lnTo>
                    <a:pt x="36741" y="287331"/>
                  </a:lnTo>
                  <a:lnTo>
                    <a:pt x="35619" y="280911"/>
                  </a:lnTo>
                  <a:lnTo>
                    <a:pt x="9118" y="247235"/>
                  </a:lnTo>
                  <a:lnTo>
                    <a:pt x="2019" y="243262"/>
                  </a:lnTo>
                  <a:lnTo>
                    <a:pt x="0" y="242369"/>
                  </a:lnTo>
                </a:path>
              </a:pathLst>
            </a:custGeom>
            <a:ln w="20189">
              <a:solidFill>
                <a:srgbClr val="3270A4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25" name="object 25" descr="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773792" y="4961726"/>
              <a:ext cx="184495" cy="184489"/>
            </a:xfrm>
            <a:prstGeom prst="rect">
              <a:avLst/>
            </a:prstGeom>
          </p:spPr>
        </p:pic>
        <p:sp>
          <p:nvSpPr>
            <p:cNvPr id="26" name="object 26" descr=""/>
            <p:cNvSpPr/>
            <p:nvPr/>
          </p:nvSpPr>
          <p:spPr>
            <a:xfrm>
              <a:off x="644277" y="4819649"/>
              <a:ext cx="441325" cy="455930"/>
            </a:xfrm>
            <a:custGeom>
              <a:avLst/>
              <a:gdLst/>
              <a:ahLst/>
              <a:cxnLst/>
              <a:rect l="l" t="t" r="r" b="b"/>
              <a:pathLst>
                <a:path w="441325" h="455929">
                  <a:moveTo>
                    <a:pt x="29264" y="365771"/>
                  </a:moveTo>
                  <a:lnTo>
                    <a:pt x="0" y="318477"/>
                  </a:lnTo>
                </a:path>
                <a:path w="441325" h="455929">
                  <a:moveTo>
                    <a:pt x="6087" y="120421"/>
                  </a:moveTo>
                  <a:lnTo>
                    <a:pt x="32374" y="81330"/>
                  </a:lnTo>
                </a:path>
                <a:path w="441325" h="455929">
                  <a:moveTo>
                    <a:pt x="196105" y="0"/>
                  </a:moveTo>
                  <a:lnTo>
                    <a:pt x="259039" y="2679"/>
                  </a:lnTo>
                </a:path>
                <a:path w="441325" h="455929">
                  <a:moveTo>
                    <a:pt x="414020" y="85293"/>
                  </a:moveTo>
                  <a:lnTo>
                    <a:pt x="441225" y="127965"/>
                  </a:lnTo>
                </a:path>
                <a:path w="441325" h="455929">
                  <a:moveTo>
                    <a:pt x="245600" y="455415"/>
                  </a:moveTo>
                  <a:lnTo>
                    <a:pt x="187791" y="454055"/>
                  </a:lnTo>
                </a:path>
              </a:pathLst>
            </a:custGeom>
            <a:ln w="20189">
              <a:solidFill>
                <a:srgbClr val="3270A4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7" name="object 27" descr=""/>
          <p:cNvSpPr txBox="1"/>
          <p:nvPr/>
        </p:nvSpPr>
        <p:spPr>
          <a:xfrm>
            <a:off x="1307998" y="4906962"/>
            <a:ext cx="4293235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35">
                <a:solidFill>
                  <a:srgbClr val="2B3440"/>
                </a:solidFill>
                <a:latin typeface="Verdana"/>
                <a:cs typeface="Verdana"/>
              </a:rPr>
              <a:t>Admin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Dashboard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Centralised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control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panel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administrators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manage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applications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users.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28" name="object 28" descr=""/>
          <p:cNvSpPr/>
          <p:nvPr/>
        </p:nvSpPr>
        <p:spPr>
          <a:xfrm>
            <a:off x="5847232" y="4819573"/>
            <a:ext cx="419734" cy="455930"/>
          </a:xfrm>
          <a:custGeom>
            <a:avLst/>
            <a:gdLst/>
            <a:ahLst/>
            <a:cxnLst/>
            <a:rect l="l" t="t" r="r" b="b"/>
            <a:pathLst>
              <a:path w="419735" h="455929">
                <a:moveTo>
                  <a:pt x="268592" y="111379"/>
                </a:moveTo>
                <a:lnTo>
                  <a:pt x="230212" y="90906"/>
                </a:lnTo>
                <a:lnTo>
                  <a:pt x="226209" y="69543"/>
                </a:lnTo>
                <a:lnTo>
                  <a:pt x="225996" y="59207"/>
                </a:lnTo>
              </a:path>
              <a:path w="419735" h="455929">
                <a:moveTo>
                  <a:pt x="393" y="422108"/>
                </a:moveTo>
                <a:lnTo>
                  <a:pt x="26416" y="454960"/>
                </a:lnTo>
                <a:lnTo>
                  <a:pt x="31508" y="455441"/>
                </a:lnTo>
                <a:lnTo>
                  <a:pt x="45732" y="455491"/>
                </a:lnTo>
              </a:path>
              <a:path w="419735" h="455929">
                <a:moveTo>
                  <a:pt x="301485" y="455486"/>
                </a:moveTo>
                <a:lnTo>
                  <a:pt x="334429" y="430508"/>
                </a:lnTo>
                <a:lnTo>
                  <a:pt x="335064" y="424723"/>
                </a:lnTo>
                <a:lnTo>
                  <a:pt x="335153" y="413288"/>
                </a:lnTo>
              </a:path>
              <a:path w="419735" h="455929">
                <a:moveTo>
                  <a:pt x="334759" y="107823"/>
                </a:moveTo>
                <a:lnTo>
                  <a:pt x="229108" y="749"/>
                </a:lnTo>
              </a:path>
              <a:path w="419735" h="455929">
                <a:moveTo>
                  <a:pt x="334886" y="111404"/>
                </a:moveTo>
                <a:lnTo>
                  <a:pt x="268592" y="111379"/>
                </a:lnTo>
              </a:path>
              <a:path w="419735" h="455929">
                <a:moveTo>
                  <a:pt x="225894" y="622"/>
                </a:moveTo>
                <a:lnTo>
                  <a:pt x="34163" y="279"/>
                </a:lnTo>
              </a:path>
              <a:path w="419735" h="455929">
                <a:moveTo>
                  <a:pt x="334886" y="111404"/>
                </a:moveTo>
                <a:lnTo>
                  <a:pt x="335178" y="196303"/>
                </a:lnTo>
              </a:path>
              <a:path w="419735" h="455929">
                <a:moveTo>
                  <a:pt x="368731" y="180975"/>
                </a:moveTo>
                <a:lnTo>
                  <a:pt x="419481" y="231775"/>
                </a:lnTo>
              </a:path>
              <a:path w="419735" h="455929">
                <a:moveTo>
                  <a:pt x="214566" y="231838"/>
                </a:moveTo>
                <a:lnTo>
                  <a:pt x="419481" y="231775"/>
                </a:lnTo>
              </a:path>
              <a:path w="419735" h="455929">
                <a:moveTo>
                  <a:pt x="371081" y="280365"/>
                </a:moveTo>
                <a:lnTo>
                  <a:pt x="419481" y="231775"/>
                </a:lnTo>
              </a:path>
              <a:path w="419735" h="455929">
                <a:moveTo>
                  <a:pt x="225996" y="59207"/>
                </a:moveTo>
                <a:lnTo>
                  <a:pt x="225894" y="622"/>
                </a:lnTo>
              </a:path>
              <a:path w="419735" h="455929">
                <a:moveTo>
                  <a:pt x="34163" y="101"/>
                </a:moveTo>
                <a:lnTo>
                  <a:pt x="19189" y="3086"/>
                </a:lnTo>
                <a:lnTo>
                  <a:pt x="16840" y="4165"/>
                </a:lnTo>
                <a:lnTo>
                  <a:pt x="14655" y="5499"/>
                </a:lnTo>
                <a:lnTo>
                  <a:pt x="12623" y="7099"/>
                </a:lnTo>
                <a:lnTo>
                  <a:pt x="10591" y="8686"/>
                </a:lnTo>
                <a:lnTo>
                  <a:pt x="3136" y="19062"/>
                </a:lnTo>
                <a:lnTo>
                  <a:pt x="2044" y="21399"/>
                </a:lnTo>
                <a:lnTo>
                  <a:pt x="1244" y="23837"/>
                </a:lnTo>
                <a:lnTo>
                  <a:pt x="736" y="26365"/>
                </a:lnTo>
                <a:lnTo>
                  <a:pt x="215" y="28892"/>
                </a:lnTo>
                <a:lnTo>
                  <a:pt x="0" y="31445"/>
                </a:lnTo>
                <a:lnTo>
                  <a:pt x="76" y="34023"/>
                </a:lnTo>
                <a:lnTo>
                  <a:pt x="165" y="36601"/>
                </a:lnTo>
                <a:lnTo>
                  <a:pt x="546" y="39141"/>
                </a:lnTo>
                <a:lnTo>
                  <a:pt x="1231" y="41630"/>
                </a:lnTo>
              </a:path>
              <a:path w="419735" h="455929">
                <a:moveTo>
                  <a:pt x="419" y="41859"/>
                </a:moveTo>
                <a:lnTo>
                  <a:pt x="393" y="422108"/>
                </a:lnTo>
              </a:path>
              <a:path w="419735" h="455929">
                <a:moveTo>
                  <a:pt x="45732" y="455491"/>
                </a:moveTo>
                <a:lnTo>
                  <a:pt x="301485" y="455486"/>
                </a:lnTo>
              </a:path>
              <a:path w="419735" h="455929">
                <a:moveTo>
                  <a:pt x="335153" y="413288"/>
                </a:moveTo>
                <a:lnTo>
                  <a:pt x="335178" y="264604"/>
                </a:lnTo>
              </a:path>
            </a:pathLst>
          </a:custGeom>
          <a:ln w="20162">
            <a:solidFill>
              <a:srgbClr val="3270A4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 descr=""/>
          <p:cNvSpPr txBox="1"/>
          <p:nvPr/>
        </p:nvSpPr>
        <p:spPr>
          <a:xfrm>
            <a:off x="6499275" y="4906962"/>
            <a:ext cx="3803650" cy="9429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70">
                <a:solidFill>
                  <a:srgbClr val="2B3440"/>
                </a:solidFill>
                <a:latin typeface="Verdana"/>
                <a:cs typeface="Verdana"/>
              </a:rPr>
              <a:t>Data</a:t>
            </a:r>
            <a:r>
              <a:rPr dirty="0" sz="1650" spc="-20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60">
                <a:solidFill>
                  <a:srgbClr val="2B3440"/>
                </a:solidFill>
                <a:latin typeface="Verdana"/>
                <a:cs typeface="Verdana"/>
              </a:rPr>
              <a:t>Export</a:t>
            </a:r>
            <a:r>
              <a:rPr dirty="0" sz="1650" spc="-20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8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r>
              <a:rPr dirty="0" sz="1650" spc="-20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Reports</a:t>
            </a:r>
            <a:endParaRPr sz="1650">
              <a:latin typeface="Verdana"/>
              <a:cs typeface="Verdana"/>
            </a:endParaRPr>
          </a:p>
          <a:p>
            <a:pPr marL="1270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Robust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reporting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tools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insights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5">
                <a:solidFill>
                  <a:srgbClr val="2B3440"/>
                </a:solidFill>
                <a:latin typeface="Verdana"/>
                <a:cs typeface="Verdana"/>
              </a:rPr>
              <a:t>easy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B3440"/>
                </a:solidFill>
                <a:latin typeface="Verdana"/>
                <a:cs typeface="Verdana"/>
              </a:rPr>
              <a:t>data </a:t>
            </a:r>
            <a:r>
              <a:rPr dirty="0" sz="1400" spc="-25">
                <a:solidFill>
                  <a:srgbClr val="2B3440"/>
                </a:solidFill>
                <a:latin typeface="Verdana"/>
                <a:cs typeface="Verdana"/>
              </a:rPr>
              <a:t>integration.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30" name="object 30" descr="">
            <a:hlinkClick r:id="rId8"/>
          </p:cNvPr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9580244" y="5926073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9144000"/>
          </a:xfrm>
          <a:custGeom>
            <a:avLst/>
            <a:gdLst/>
            <a:ahLst/>
            <a:cxnLst/>
            <a:rect l="l" t="t" r="r" b="b"/>
            <a:pathLst>
              <a:path w="11430000" h="9144000">
                <a:moveTo>
                  <a:pt x="11430000" y="0"/>
                </a:moveTo>
                <a:lnTo>
                  <a:pt x="0" y="0"/>
                </a:lnTo>
                <a:lnTo>
                  <a:pt x="0" y="9144000"/>
                </a:lnTo>
                <a:lnTo>
                  <a:pt x="11430000" y="9144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4286250" cy="9143998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911128" y="492125"/>
            <a:ext cx="4324350" cy="1073150"/>
          </a:xfrm>
          <a:prstGeom prst="rect"/>
        </p:spPr>
        <p:txBody>
          <a:bodyPr wrap="square" lIns="0" tIns="6350" rIns="0" bIns="0" rtlCol="0" vert="horz">
            <a:spAutoFit/>
          </a:bodyPr>
          <a:lstStyle/>
          <a:p>
            <a:pPr marL="12700" marR="5080">
              <a:lnSpc>
                <a:spcPts val="4200"/>
              </a:lnSpc>
              <a:spcBef>
                <a:spcPts val="50"/>
              </a:spcBef>
            </a:pPr>
            <a:r>
              <a:rPr dirty="0" spc="-114"/>
              <a:t>Technology</a:t>
            </a:r>
            <a:r>
              <a:rPr dirty="0" spc="-335"/>
              <a:t> </a:t>
            </a:r>
            <a:r>
              <a:rPr dirty="0" spc="-55"/>
              <a:t>Powering </a:t>
            </a:r>
            <a:r>
              <a:rPr dirty="0" spc="-10"/>
              <a:t>EMBRACE</a:t>
            </a:r>
          </a:p>
        </p:txBody>
      </p:sp>
      <p:grpSp>
        <p:nvGrpSpPr>
          <p:cNvPr id="5" name="object 5" descr=""/>
          <p:cNvGrpSpPr/>
          <p:nvPr/>
        </p:nvGrpSpPr>
        <p:grpSpPr>
          <a:xfrm>
            <a:off x="4924425" y="2343149"/>
            <a:ext cx="5867400" cy="5314950"/>
            <a:chOff x="4924425" y="2343149"/>
            <a:chExt cx="5867400" cy="5314950"/>
          </a:xfrm>
        </p:grpSpPr>
        <p:sp>
          <p:nvSpPr>
            <p:cNvPr id="6" name="object 6" descr=""/>
            <p:cNvSpPr/>
            <p:nvPr/>
          </p:nvSpPr>
          <p:spPr>
            <a:xfrm>
              <a:off x="4929187" y="2347912"/>
              <a:ext cx="5857875" cy="5305425"/>
            </a:xfrm>
            <a:custGeom>
              <a:avLst/>
              <a:gdLst/>
              <a:ahLst/>
              <a:cxnLst/>
              <a:rect l="l" t="t" r="r" b="b"/>
              <a:pathLst>
                <a:path w="5857875" h="5305425">
                  <a:moveTo>
                    <a:pt x="5802757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5246433"/>
                  </a:lnTo>
                  <a:lnTo>
                    <a:pt x="0" y="5250307"/>
                  </a:lnTo>
                  <a:lnTo>
                    <a:pt x="20015" y="5290883"/>
                  </a:lnTo>
                  <a:lnTo>
                    <a:pt x="55118" y="5305425"/>
                  </a:lnTo>
                  <a:lnTo>
                    <a:pt x="5802757" y="5305425"/>
                  </a:lnTo>
                  <a:lnTo>
                    <a:pt x="5843333" y="5285397"/>
                  </a:lnTo>
                  <a:lnTo>
                    <a:pt x="5857875" y="5250307"/>
                  </a:lnTo>
                  <a:lnTo>
                    <a:pt x="5857875" y="55118"/>
                  </a:lnTo>
                  <a:lnTo>
                    <a:pt x="5837859" y="14541"/>
                  </a:lnTo>
                  <a:lnTo>
                    <a:pt x="5806592" y="381"/>
                  </a:lnTo>
                  <a:lnTo>
                    <a:pt x="5802757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929187" y="2347912"/>
              <a:ext cx="5857875" cy="5305425"/>
            </a:xfrm>
            <a:custGeom>
              <a:avLst/>
              <a:gdLst/>
              <a:ahLst/>
              <a:cxnLst/>
              <a:rect l="l" t="t" r="r" b="b"/>
              <a:pathLst>
                <a:path w="5857875" h="5305425">
                  <a:moveTo>
                    <a:pt x="0" y="5246433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5798883" y="0"/>
                  </a:lnTo>
                  <a:lnTo>
                    <a:pt x="5802757" y="0"/>
                  </a:lnTo>
                  <a:lnTo>
                    <a:pt x="5806592" y="381"/>
                  </a:lnTo>
                  <a:lnTo>
                    <a:pt x="5810389" y="1130"/>
                  </a:lnTo>
                  <a:lnTo>
                    <a:pt x="5814187" y="1892"/>
                  </a:lnTo>
                  <a:lnTo>
                    <a:pt x="5817870" y="3009"/>
                  </a:lnTo>
                  <a:lnTo>
                    <a:pt x="5821451" y="4495"/>
                  </a:lnTo>
                  <a:lnTo>
                    <a:pt x="5825032" y="5969"/>
                  </a:lnTo>
                  <a:lnTo>
                    <a:pt x="5828436" y="7785"/>
                  </a:lnTo>
                  <a:lnTo>
                    <a:pt x="5831662" y="9944"/>
                  </a:lnTo>
                  <a:lnTo>
                    <a:pt x="5834875" y="12090"/>
                  </a:lnTo>
                  <a:lnTo>
                    <a:pt x="5837859" y="14541"/>
                  </a:lnTo>
                  <a:lnTo>
                    <a:pt x="5840590" y="17284"/>
                  </a:lnTo>
                  <a:lnTo>
                    <a:pt x="5843333" y="20015"/>
                  </a:lnTo>
                  <a:lnTo>
                    <a:pt x="5853379" y="36423"/>
                  </a:lnTo>
                  <a:lnTo>
                    <a:pt x="5854865" y="39992"/>
                  </a:lnTo>
                  <a:lnTo>
                    <a:pt x="5855982" y="43688"/>
                  </a:lnTo>
                  <a:lnTo>
                    <a:pt x="5856744" y="47485"/>
                  </a:lnTo>
                  <a:lnTo>
                    <a:pt x="5857494" y="51282"/>
                  </a:lnTo>
                  <a:lnTo>
                    <a:pt x="5857875" y="55118"/>
                  </a:lnTo>
                  <a:lnTo>
                    <a:pt x="5857875" y="58991"/>
                  </a:lnTo>
                  <a:lnTo>
                    <a:pt x="5857875" y="5246433"/>
                  </a:lnTo>
                  <a:lnTo>
                    <a:pt x="5857875" y="5250307"/>
                  </a:lnTo>
                  <a:lnTo>
                    <a:pt x="5857494" y="5254142"/>
                  </a:lnTo>
                  <a:lnTo>
                    <a:pt x="5856744" y="5257939"/>
                  </a:lnTo>
                  <a:lnTo>
                    <a:pt x="5855982" y="5261737"/>
                  </a:lnTo>
                  <a:lnTo>
                    <a:pt x="5854865" y="5265420"/>
                  </a:lnTo>
                  <a:lnTo>
                    <a:pt x="5853379" y="5269001"/>
                  </a:lnTo>
                  <a:lnTo>
                    <a:pt x="5851906" y="5272582"/>
                  </a:lnTo>
                  <a:lnTo>
                    <a:pt x="5850077" y="5275986"/>
                  </a:lnTo>
                  <a:lnTo>
                    <a:pt x="5847930" y="5279199"/>
                  </a:lnTo>
                  <a:lnTo>
                    <a:pt x="5845784" y="5282425"/>
                  </a:lnTo>
                  <a:lnTo>
                    <a:pt x="5843333" y="5285397"/>
                  </a:lnTo>
                  <a:lnTo>
                    <a:pt x="5840590" y="5288140"/>
                  </a:lnTo>
                  <a:lnTo>
                    <a:pt x="5837859" y="5290883"/>
                  </a:lnTo>
                  <a:lnTo>
                    <a:pt x="5802757" y="5305425"/>
                  </a:lnTo>
                  <a:lnTo>
                    <a:pt x="5798883" y="5305425"/>
                  </a:lnTo>
                  <a:lnTo>
                    <a:pt x="58991" y="5305425"/>
                  </a:lnTo>
                  <a:lnTo>
                    <a:pt x="55118" y="5305425"/>
                  </a:lnTo>
                  <a:lnTo>
                    <a:pt x="51282" y="5305044"/>
                  </a:lnTo>
                  <a:lnTo>
                    <a:pt x="47485" y="5304294"/>
                  </a:lnTo>
                  <a:lnTo>
                    <a:pt x="43688" y="5303532"/>
                  </a:lnTo>
                  <a:lnTo>
                    <a:pt x="39992" y="5302415"/>
                  </a:lnTo>
                  <a:lnTo>
                    <a:pt x="36423" y="5300929"/>
                  </a:lnTo>
                  <a:lnTo>
                    <a:pt x="32842" y="5299443"/>
                  </a:lnTo>
                  <a:lnTo>
                    <a:pt x="17284" y="5288140"/>
                  </a:lnTo>
                  <a:lnTo>
                    <a:pt x="14541" y="5285397"/>
                  </a:lnTo>
                  <a:lnTo>
                    <a:pt x="12090" y="5282425"/>
                  </a:lnTo>
                  <a:lnTo>
                    <a:pt x="9944" y="5279212"/>
                  </a:lnTo>
                  <a:lnTo>
                    <a:pt x="7785" y="5275986"/>
                  </a:lnTo>
                  <a:lnTo>
                    <a:pt x="5969" y="5272582"/>
                  </a:lnTo>
                  <a:lnTo>
                    <a:pt x="4495" y="5269001"/>
                  </a:lnTo>
                  <a:lnTo>
                    <a:pt x="3009" y="5265420"/>
                  </a:lnTo>
                  <a:lnTo>
                    <a:pt x="1892" y="5261737"/>
                  </a:lnTo>
                  <a:lnTo>
                    <a:pt x="1130" y="5257939"/>
                  </a:lnTo>
                  <a:lnTo>
                    <a:pt x="381" y="5254142"/>
                  </a:lnTo>
                  <a:lnTo>
                    <a:pt x="0" y="5250307"/>
                  </a:lnTo>
                  <a:lnTo>
                    <a:pt x="0" y="5246433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4933950" y="2352674"/>
              <a:ext cx="5848350" cy="2647950"/>
            </a:xfrm>
            <a:custGeom>
              <a:avLst/>
              <a:gdLst/>
              <a:ahLst/>
              <a:cxnLst/>
              <a:rect l="l" t="t" r="r" b="b"/>
              <a:pathLst>
                <a:path w="5848350" h="2647950">
                  <a:moveTo>
                    <a:pt x="5848350" y="59575"/>
                  </a:moveTo>
                  <a:lnTo>
                    <a:pt x="5832627" y="21640"/>
                  </a:lnTo>
                  <a:lnTo>
                    <a:pt x="5792927" y="406"/>
                  </a:lnTo>
                  <a:lnTo>
                    <a:pt x="5788774" y="0"/>
                  </a:lnTo>
                  <a:lnTo>
                    <a:pt x="59575" y="0"/>
                  </a:lnTo>
                  <a:lnTo>
                    <a:pt x="21640" y="15709"/>
                  </a:lnTo>
                  <a:lnTo>
                    <a:pt x="406" y="55422"/>
                  </a:lnTo>
                  <a:lnTo>
                    <a:pt x="0" y="59575"/>
                  </a:lnTo>
                  <a:lnTo>
                    <a:pt x="0" y="1323975"/>
                  </a:lnTo>
                  <a:lnTo>
                    <a:pt x="0" y="2647950"/>
                  </a:lnTo>
                  <a:lnTo>
                    <a:pt x="5848350" y="2647950"/>
                  </a:lnTo>
                  <a:lnTo>
                    <a:pt x="5848350" y="1323975"/>
                  </a:lnTo>
                  <a:lnTo>
                    <a:pt x="5848350" y="59575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9" name="object 9" descr=""/>
            <p:cNvSpPr/>
            <p:nvPr/>
          </p:nvSpPr>
          <p:spPr>
            <a:xfrm>
              <a:off x="4933950" y="3676649"/>
              <a:ext cx="5848350" cy="19050"/>
            </a:xfrm>
            <a:custGeom>
              <a:avLst/>
              <a:gdLst/>
              <a:ahLst/>
              <a:cxnLst/>
              <a:rect l="l" t="t" r="r" b="b"/>
              <a:pathLst>
                <a:path w="5848350" h="19050">
                  <a:moveTo>
                    <a:pt x="58414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841453" y="19050"/>
                  </a:lnTo>
                  <a:lnTo>
                    <a:pt x="5843701" y="18122"/>
                  </a:lnTo>
                  <a:lnTo>
                    <a:pt x="5847422" y="14401"/>
                  </a:lnTo>
                  <a:lnTo>
                    <a:pt x="5848350" y="12153"/>
                  </a:lnTo>
                  <a:lnTo>
                    <a:pt x="5848350" y="6896"/>
                  </a:lnTo>
                  <a:lnTo>
                    <a:pt x="5847422" y="4648"/>
                  </a:lnTo>
                  <a:lnTo>
                    <a:pt x="5843701" y="927"/>
                  </a:lnTo>
                  <a:lnTo>
                    <a:pt x="5841453" y="0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933950" y="5000624"/>
              <a:ext cx="5848350" cy="1323975"/>
            </a:xfrm>
            <a:custGeom>
              <a:avLst/>
              <a:gdLst/>
              <a:ahLst/>
              <a:cxnLst/>
              <a:rect l="l" t="t" r="r" b="b"/>
              <a:pathLst>
                <a:path w="5848350" h="1323975">
                  <a:moveTo>
                    <a:pt x="5848350" y="0"/>
                  </a:moveTo>
                  <a:lnTo>
                    <a:pt x="0" y="0"/>
                  </a:lnTo>
                  <a:lnTo>
                    <a:pt x="0" y="1323975"/>
                  </a:lnTo>
                  <a:lnTo>
                    <a:pt x="5848350" y="1323975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4933950" y="5000624"/>
              <a:ext cx="5848350" cy="19050"/>
            </a:xfrm>
            <a:custGeom>
              <a:avLst/>
              <a:gdLst/>
              <a:ahLst/>
              <a:cxnLst/>
              <a:rect l="l" t="t" r="r" b="b"/>
              <a:pathLst>
                <a:path w="5848350" h="19050">
                  <a:moveTo>
                    <a:pt x="58414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841453" y="19050"/>
                  </a:lnTo>
                  <a:lnTo>
                    <a:pt x="5843701" y="18122"/>
                  </a:lnTo>
                  <a:lnTo>
                    <a:pt x="5847422" y="14401"/>
                  </a:lnTo>
                  <a:lnTo>
                    <a:pt x="5848350" y="12153"/>
                  </a:lnTo>
                  <a:lnTo>
                    <a:pt x="5848350" y="6896"/>
                  </a:lnTo>
                  <a:lnTo>
                    <a:pt x="5847422" y="4648"/>
                  </a:lnTo>
                  <a:lnTo>
                    <a:pt x="5843701" y="927"/>
                  </a:lnTo>
                  <a:lnTo>
                    <a:pt x="5841453" y="0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4933950" y="6324599"/>
              <a:ext cx="5848350" cy="1323975"/>
            </a:xfrm>
            <a:custGeom>
              <a:avLst/>
              <a:gdLst/>
              <a:ahLst/>
              <a:cxnLst/>
              <a:rect l="l" t="t" r="r" b="b"/>
              <a:pathLst>
                <a:path w="5848350" h="1323975">
                  <a:moveTo>
                    <a:pt x="5848350" y="0"/>
                  </a:moveTo>
                  <a:lnTo>
                    <a:pt x="0" y="0"/>
                  </a:lnTo>
                  <a:lnTo>
                    <a:pt x="0" y="1260221"/>
                  </a:lnTo>
                  <a:lnTo>
                    <a:pt x="0" y="1264399"/>
                  </a:lnTo>
                  <a:lnTo>
                    <a:pt x="15709" y="1302334"/>
                  </a:lnTo>
                  <a:lnTo>
                    <a:pt x="55422" y="1323568"/>
                  </a:lnTo>
                  <a:lnTo>
                    <a:pt x="59575" y="1323975"/>
                  </a:lnTo>
                  <a:lnTo>
                    <a:pt x="5788774" y="1323975"/>
                  </a:lnTo>
                  <a:lnTo>
                    <a:pt x="5826709" y="1308252"/>
                  </a:lnTo>
                  <a:lnTo>
                    <a:pt x="5847943" y="1268552"/>
                  </a:lnTo>
                  <a:lnTo>
                    <a:pt x="5848350" y="1264399"/>
                  </a:lnTo>
                  <a:lnTo>
                    <a:pt x="5848350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4933950" y="6324599"/>
              <a:ext cx="5848350" cy="19050"/>
            </a:xfrm>
            <a:custGeom>
              <a:avLst/>
              <a:gdLst/>
              <a:ahLst/>
              <a:cxnLst/>
              <a:rect l="l" t="t" r="r" b="b"/>
              <a:pathLst>
                <a:path w="5848350" h="19050">
                  <a:moveTo>
                    <a:pt x="5841453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841453" y="19050"/>
                  </a:lnTo>
                  <a:lnTo>
                    <a:pt x="5843701" y="18122"/>
                  </a:lnTo>
                  <a:lnTo>
                    <a:pt x="5847422" y="14401"/>
                  </a:lnTo>
                  <a:lnTo>
                    <a:pt x="5848350" y="12153"/>
                  </a:lnTo>
                  <a:lnTo>
                    <a:pt x="5848350" y="6896"/>
                  </a:lnTo>
                  <a:lnTo>
                    <a:pt x="5847422" y="4648"/>
                  </a:lnTo>
                  <a:lnTo>
                    <a:pt x="5843701" y="927"/>
                  </a:lnTo>
                  <a:lnTo>
                    <a:pt x="5841453" y="0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4911128" y="1862582"/>
            <a:ext cx="5683885" cy="5578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Our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platform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is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built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on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modern,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scalable,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secure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technology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2B3440"/>
                </a:solidFill>
                <a:latin typeface="Verdana"/>
                <a:cs typeface="Verdana"/>
              </a:rPr>
              <a:t>stack.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65"/>
              </a:spcBef>
            </a:pPr>
            <a:endParaRPr sz="1400">
              <a:latin typeface="Verdana"/>
              <a:cs typeface="Verdana"/>
            </a:endParaRPr>
          </a:p>
          <a:p>
            <a:pPr marL="203835">
              <a:lnSpc>
                <a:spcPct val="100000"/>
              </a:lnSpc>
            </a:pP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Frontend</a:t>
            </a:r>
            <a:r>
              <a:rPr dirty="0" sz="1650" spc="-19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50">
                <a:solidFill>
                  <a:srgbClr val="2B3440"/>
                </a:solidFill>
                <a:latin typeface="Verdana"/>
                <a:cs typeface="Verdana"/>
              </a:rPr>
              <a:t>/</a:t>
            </a:r>
            <a:r>
              <a:rPr dirty="0" sz="1650" spc="-19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25">
                <a:solidFill>
                  <a:srgbClr val="2B3440"/>
                </a:solidFill>
                <a:latin typeface="Verdana"/>
                <a:cs typeface="Verdana"/>
              </a:rPr>
              <a:t>UI</a:t>
            </a:r>
            <a:endParaRPr sz="1650">
              <a:latin typeface="Verdana"/>
              <a:cs typeface="Verdana"/>
            </a:endParaRPr>
          </a:p>
          <a:p>
            <a:pPr marL="203835" marR="240665">
              <a:lnSpc>
                <a:spcPct val="138400"/>
              </a:lnSpc>
              <a:spcBef>
                <a:spcPts val="625"/>
              </a:spcBef>
            </a:pP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Built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with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React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styled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with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Tailwind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40">
                <a:solidFill>
                  <a:srgbClr val="2B3440"/>
                </a:solidFill>
                <a:latin typeface="Verdana"/>
                <a:cs typeface="Verdana"/>
              </a:rPr>
              <a:t>CSS,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leveraging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Lovable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B3440"/>
                </a:solidFill>
                <a:latin typeface="Verdana"/>
                <a:cs typeface="Verdana"/>
              </a:rPr>
              <a:t>AI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9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rapid</a:t>
            </a:r>
            <a:r>
              <a:rPr dirty="0" sz="1400" spc="-19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30">
                <a:solidFill>
                  <a:srgbClr val="2B3440"/>
                </a:solidFill>
                <a:latin typeface="Verdana"/>
                <a:cs typeface="Verdana"/>
              </a:rPr>
              <a:t>development.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400">
              <a:latin typeface="Verdana"/>
              <a:cs typeface="Verdana"/>
            </a:endParaRPr>
          </a:p>
          <a:p>
            <a:pPr marL="203835">
              <a:lnSpc>
                <a:spcPct val="100000"/>
              </a:lnSpc>
              <a:spcBef>
                <a:spcPts val="5"/>
              </a:spcBef>
            </a:pPr>
            <a:r>
              <a:rPr dirty="0" sz="1650" spc="-45">
                <a:solidFill>
                  <a:srgbClr val="2B3440"/>
                </a:solidFill>
                <a:latin typeface="Verdana"/>
                <a:cs typeface="Verdana"/>
              </a:rPr>
              <a:t>Backend</a:t>
            </a:r>
            <a:r>
              <a:rPr dirty="0" sz="1650" spc="-20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50">
                <a:solidFill>
                  <a:srgbClr val="2B3440"/>
                </a:solidFill>
                <a:latin typeface="Verdana"/>
                <a:cs typeface="Verdana"/>
              </a:rPr>
              <a:t>/</a:t>
            </a:r>
            <a:r>
              <a:rPr dirty="0" sz="1650" spc="-204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Database</a:t>
            </a:r>
            <a:endParaRPr sz="1650">
              <a:latin typeface="Verdana"/>
              <a:cs typeface="Verdana"/>
            </a:endParaRPr>
          </a:p>
          <a:p>
            <a:pPr marL="203835" marR="473709">
              <a:lnSpc>
                <a:spcPct val="138400"/>
              </a:lnSpc>
              <a:spcBef>
                <a:spcPts val="625"/>
              </a:spcBef>
            </a:pP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Utilising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Supabase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robust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database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management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2B3440"/>
                </a:solidFill>
                <a:latin typeface="Verdana"/>
                <a:cs typeface="Verdana"/>
              </a:rPr>
              <a:t>secure </a:t>
            </a:r>
            <a:r>
              <a:rPr dirty="0" sz="1400" spc="-35">
                <a:solidFill>
                  <a:srgbClr val="2B3440"/>
                </a:solidFill>
                <a:latin typeface="Verdana"/>
                <a:cs typeface="Verdana"/>
              </a:rPr>
              <a:t>authentication.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65"/>
              </a:spcBef>
            </a:pPr>
            <a:endParaRPr sz="1400">
              <a:latin typeface="Verdana"/>
              <a:cs typeface="Verdana"/>
            </a:endParaRPr>
          </a:p>
          <a:p>
            <a:pPr marL="203835">
              <a:lnSpc>
                <a:spcPct val="100000"/>
              </a:lnSpc>
            </a:pP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Integrations</a:t>
            </a:r>
            <a:endParaRPr sz="1650">
              <a:latin typeface="Verdana"/>
              <a:cs typeface="Verdana"/>
            </a:endParaRPr>
          </a:p>
          <a:p>
            <a:pPr marL="203835" marR="721995">
              <a:lnSpc>
                <a:spcPct val="138400"/>
              </a:lnSpc>
              <a:spcBef>
                <a:spcPts val="625"/>
              </a:spcBef>
            </a:pP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Seamless</a:t>
            </a:r>
            <a:r>
              <a:rPr dirty="0" sz="1400" spc="-14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connections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email/SMS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notifications,</a:t>
            </a:r>
            <a:r>
              <a:rPr dirty="0" sz="1400" spc="-14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advanced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analytics,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scalable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cloud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hosting.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1470"/>
              </a:spcBef>
            </a:pPr>
            <a:endParaRPr sz="1400">
              <a:latin typeface="Verdana"/>
              <a:cs typeface="Verdana"/>
            </a:endParaRPr>
          </a:p>
          <a:p>
            <a:pPr marL="203835">
              <a:lnSpc>
                <a:spcPct val="100000"/>
              </a:lnSpc>
            </a:pPr>
            <a:r>
              <a:rPr dirty="0" sz="1650" spc="-55">
                <a:solidFill>
                  <a:srgbClr val="2B3440"/>
                </a:solidFill>
                <a:latin typeface="Verdana"/>
                <a:cs typeface="Verdana"/>
              </a:rPr>
              <a:t>Design</a:t>
            </a:r>
            <a:r>
              <a:rPr dirty="0" sz="1650" spc="-19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20">
                <a:solidFill>
                  <a:srgbClr val="2B3440"/>
                </a:solidFill>
                <a:latin typeface="Verdana"/>
                <a:cs typeface="Verdana"/>
              </a:rPr>
              <a:t>Tools</a:t>
            </a:r>
            <a:endParaRPr sz="1650">
              <a:latin typeface="Verdana"/>
              <a:cs typeface="Verdana"/>
            </a:endParaRPr>
          </a:p>
          <a:p>
            <a:pPr marL="203835" marR="347980">
              <a:lnSpc>
                <a:spcPct val="138400"/>
              </a:lnSpc>
              <a:spcBef>
                <a:spcPts val="625"/>
              </a:spcBef>
            </a:pPr>
            <a:r>
              <a:rPr dirty="0" sz="1400" spc="-140">
                <a:solidFill>
                  <a:srgbClr val="2B3440"/>
                </a:solidFill>
                <a:latin typeface="Verdana"/>
                <a:cs typeface="Verdana"/>
              </a:rPr>
              <a:t>UI/UX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crafted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meticulously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in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2B3440"/>
                </a:solidFill>
                <a:latin typeface="Verdana"/>
                <a:cs typeface="Verdana"/>
              </a:rPr>
              <a:t>Figma,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ensuring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an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exceptional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B3440"/>
                </a:solidFill>
                <a:latin typeface="Verdana"/>
                <a:cs typeface="Verdana"/>
              </a:rPr>
              <a:t>user experience.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4924425" y="7867650"/>
            <a:ext cx="5867400" cy="771525"/>
            <a:chOff x="4924425" y="7867650"/>
            <a:chExt cx="5867400" cy="771525"/>
          </a:xfrm>
        </p:grpSpPr>
        <p:sp>
          <p:nvSpPr>
            <p:cNvPr id="16" name="object 16" descr=""/>
            <p:cNvSpPr/>
            <p:nvPr/>
          </p:nvSpPr>
          <p:spPr>
            <a:xfrm>
              <a:off x="4924425" y="7867650"/>
              <a:ext cx="5867400" cy="771525"/>
            </a:xfrm>
            <a:custGeom>
              <a:avLst/>
              <a:gdLst/>
              <a:ahLst/>
              <a:cxnLst/>
              <a:rect l="l" t="t" r="r" b="b"/>
              <a:pathLst>
                <a:path w="5867400" h="771525">
                  <a:moveTo>
                    <a:pt x="5807824" y="0"/>
                  </a:moveTo>
                  <a:lnTo>
                    <a:pt x="59575" y="0"/>
                  </a:lnTo>
                  <a:lnTo>
                    <a:pt x="55422" y="406"/>
                  </a:lnTo>
                  <a:lnTo>
                    <a:pt x="15709" y="21634"/>
                  </a:lnTo>
                  <a:lnTo>
                    <a:pt x="0" y="59570"/>
                  </a:lnTo>
                  <a:lnTo>
                    <a:pt x="0" y="707767"/>
                  </a:lnTo>
                  <a:lnTo>
                    <a:pt x="0" y="711954"/>
                  </a:lnTo>
                  <a:lnTo>
                    <a:pt x="15709" y="749890"/>
                  </a:lnTo>
                  <a:lnTo>
                    <a:pt x="55422" y="771118"/>
                  </a:lnTo>
                  <a:lnTo>
                    <a:pt x="59575" y="771525"/>
                  </a:lnTo>
                  <a:lnTo>
                    <a:pt x="5807824" y="771525"/>
                  </a:lnTo>
                  <a:lnTo>
                    <a:pt x="5845759" y="755808"/>
                  </a:lnTo>
                  <a:lnTo>
                    <a:pt x="5866993" y="716095"/>
                  </a:lnTo>
                  <a:lnTo>
                    <a:pt x="5867400" y="711954"/>
                  </a:lnTo>
                  <a:lnTo>
                    <a:pt x="5867400" y="59570"/>
                  </a:lnTo>
                  <a:lnTo>
                    <a:pt x="5851690" y="21634"/>
                  </a:lnTo>
                  <a:lnTo>
                    <a:pt x="5811977" y="406"/>
                  </a:lnTo>
                  <a:lnTo>
                    <a:pt x="5807824" y="0"/>
                  </a:lnTo>
                  <a:close/>
                </a:path>
              </a:pathLst>
            </a:custGeom>
            <a:solidFill>
              <a:srgbClr val="C5DBED"/>
            </a:solidFill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139550" y="8155260"/>
              <a:ext cx="159397" cy="159395"/>
            </a:xfrm>
            <a:prstGeom prst="rect">
              <a:avLst/>
            </a:prstGeom>
          </p:spPr>
        </p:pic>
      </p:grpSp>
      <p:sp>
        <p:nvSpPr>
          <p:cNvPr id="18" name="object 18" descr=""/>
          <p:cNvSpPr txBox="1"/>
          <p:nvPr/>
        </p:nvSpPr>
        <p:spPr>
          <a:xfrm>
            <a:off x="5503164" y="8110981"/>
            <a:ext cx="2404745" cy="2444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1400" spc="-105">
                <a:latin typeface="Verdana"/>
                <a:cs typeface="Verdana"/>
              </a:rPr>
              <a:t>Explore</a:t>
            </a:r>
            <a:r>
              <a:rPr dirty="0" sz="1400" spc="-150">
                <a:latin typeface="Verdana"/>
                <a:cs typeface="Verdana"/>
              </a:rPr>
              <a:t> </a:t>
            </a:r>
            <a:r>
              <a:rPr dirty="0" sz="1400" spc="-105">
                <a:latin typeface="Verdana"/>
                <a:cs typeface="Verdana"/>
              </a:rPr>
              <a:t>Lovable</a:t>
            </a:r>
            <a:r>
              <a:rPr dirty="0" sz="1400" spc="-150">
                <a:latin typeface="Verdana"/>
                <a:cs typeface="Verdana"/>
              </a:rPr>
              <a:t> </a:t>
            </a:r>
            <a:r>
              <a:rPr dirty="0" sz="1400" spc="-195">
                <a:latin typeface="Verdana"/>
                <a:cs typeface="Verdana"/>
              </a:rPr>
              <a:t>AI:</a:t>
            </a:r>
            <a:r>
              <a:rPr dirty="0" sz="1400" spc="-145">
                <a:latin typeface="Verdana"/>
                <a:cs typeface="Verdana"/>
              </a:rPr>
              <a:t> </a:t>
            </a:r>
            <a:r>
              <a:rPr dirty="0" sz="1400" spc="-105">
                <a:latin typeface="Verdana"/>
                <a:cs typeface="Verdana"/>
              </a:rPr>
              <a:t>lovable.dev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9" name="object 19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8629650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1"/>
            <a:ext cx="11430000" cy="6762750"/>
          </a:xfrm>
          <a:custGeom>
            <a:avLst/>
            <a:gdLst/>
            <a:ahLst/>
            <a:cxnLst/>
            <a:rect l="l" t="t" r="r" b="b"/>
            <a:pathLst>
              <a:path w="11430000" h="6762750">
                <a:moveTo>
                  <a:pt x="11430000" y="0"/>
                </a:moveTo>
                <a:lnTo>
                  <a:pt x="0" y="0"/>
                </a:lnTo>
                <a:lnTo>
                  <a:pt x="0" y="6762750"/>
                </a:lnTo>
                <a:lnTo>
                  <a:pt x="11430000" y="676275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95"/>
              <a:t>Business</a:t>
            </a:r>
            <a:r>
              <a:rPr dirty="0" spc="-365"/>
              <a:t> </a:t>
            </a:r>
            <a:r>
              <a:rPr dirty="0" spc="-35"/>
              <a:t>Model</a:t>
            </a:r>
            <a:r>
              <a:rPr dirty="0" spc="-360"/>
              <a:t> </a:t>
            </a:r>
            <a:r>
              <a:rPr dirty="0" spc="-180"/>
              <a:t>&amp;</a:t>
            </a:r>
            <a:r>
              <a:rPr dirty="0" spc="-365"/>
              <a:t> </a:t>
            </a:r>
            <a:r>
              <a:rPr dirty="0" spc="-85"/>
              <a:t>Monetisation</a:t>
            </a:r>
            <a:r>
              <a:rPr dirty="0" spc="-360"/>
              <a:t> </a:t>
            </a:r>
            <a:r>
              <a:rPr dirty="0" spc="-90"/>
              <a:t>Strategy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2333625" y="1895474"/>
            <a:ext cx="1685925" cy="1038225"/>
            <a:chOff x="2333625" y="1895474"/>
            <a:chExt cx="1685925" cy="1038225"/>
          </a:xfrm>
        </p:grpSpPr>
        <p:sp>
          <p:nvSpPr>
            <p:cNvPr id="5" name="object 5" descr=""/>
            <p:cNvSpPr/>
            <p:nvPr/>
          </p:nvSpPr>
          <p:spPr>
            <a:xfrm>
              <a:off x="2338387" y="1900237"/>
              <a:ext cx="1676400" cy="1028700"/>
            </a:xfrm>
            <a:custGeom>
              <a:avLst/>
              <a:gdLst/>
              <a:ahLst/>
              <a:cxnLst/>
              <a:rect l="l" t="t" r="r" b="b"/>
              <a:pathLst>
                <a:path w="1676400" h="1028700">
                  <a:moveTo>
                    <a:pt x="162128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969708"/>
                  </a:lnTo>
                  <a:lnTo>
                    <a:pt x="0" y="973582"/>
                  </a:lnTo>
                  <a:lnTo>
                    <a:pt x="20015" y="1014158"/>
                  </a:lnTo>
                  <a:lnTo>
                    <a:pt x="55118" y="1028700"/>
                  </a:lnTo>
                  <a:lnTo>
                    <a:pt x="1621282" y="1028700"/>
                  </a:lnTo>
                  <a:lnTo>
                    <a:pt x="1661858" y="1008684"/>
                  </a:lnTo>
                  <a:lnTo>
                    <a:pt x="1676400" y="973582"/>
                  </a:lnTo>
                  <a:lnTo>
                    <a:pt x="1676400" y="55118"/>
                  </a:lnTo>
                  <a:lnTo>
                    <a:pt x="1656384" y="14541"/>
                  </a:lnTo>
                  <a:lnTo>
                    <a:pt x="1625117" y="381"/>
                  </a:lnTo>
                  <a:lnTo>
                    <a:pt x="162128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338387" y="1900237"/>
              <a:ext cx="1676400" cy="1028700"/>
            </a:xfrm>
            <a:custGeom>
              <a:avLst/>
              <a:gdLst/>
              <a:ahLst/>
              <a:cxnLst/>
              <a:rect l="l" t="t" r="r" b="b"/>
              <a:pathLst>
                <a:path w="1676400" h="1028700">
                  <a:moveTo>
                    <a:pt x="0" y="96970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1617408" y="0"/>
                  </a:lnTo>
                  <a:lnTo>
                    <a:pt x="1621282" y="0"/>
                  </a:lnTo>
                  <a:lnTo>
                    <a:pt x="1625117" y="381"/>
                  </a:lnTo>
                  <a:lnTo>
                    <a:pt x="1628914" y="1130"/>
                  </a:lnTo>
                  <a:lnTo>
                    <a:pt x="1632712" y="1892"/>
                  </a:lnTo>
                  <a:lnTo>
                    <a:pt x="1636395" y="3009"/>
                  </a:lnTo>
                  <a:lnTo>
                    <a:pt x="1639976" y="4495"/>
                  </a:lnTo>
                  <a:lnTo>
                    <a:pt x="1643557" y="5969"/>
                  </a:lnTo>
                  <a:lnTo>
                    <a:pt x="1646961" y="7785"/>
                  </a:lnTo>
                  <a:lnTo>
                    <a:pt x="1650187" y="9944"/>
                  </a:lnTo>
                  <a:lnTo>
                    <a:pt x="1653400" y="12090"/>
                  </a:lnTo>
                  <a:lnTo>
                    <a:pt x="1656384" y="14541"/>
                  </a:lnTo>
                  <a:lnTo>
                    <a:pt x="1659115" y="17284"/>
                  </a:lnTo>
                  <a:lnTo>
                    <a:pt x="1661858" y="20015"/>
                  </a:lnTo>
                  <a:lnTo>
                    <a:pt x="1664309" y="22999"/>
                  </a:lnTo>
                  <a:lnTo>
                    <a:pt x="1666455" y="26225"/>
                  </a:lnTo>
                  <a:lnTo>
                    <a:pt x="1668614" y="29438"/>
                  </a:lnTo>
                  <a:lnTo>
                    <a:pt x="1670431" y="32842"/>
                  </a:lnTo>
                  <a:lnTo>
                    <a:pt x="1671904" y="36423"/>
                  </a:lnTo>
                  <a:lnTo>
                    <a:pt x="1673390" y="39992"/>
                  </a:lnTo>
                  <a:lnTo>
                    <a:pt x="1674507" y="43688"/>
                  </a:lnTo>
                  <a:lnTo>
                    <a:pt x="1675269" y="47485"/>
                  </a:lnTo>
                  <a:lnTo>
                    <a:pt x="1676019" y="51282"/>
                  </a:lnTo>
                  <a:lnTo>
                    <a:pt x="1676400" y="55118"/>
                  </a:lnTo>
                  <a:lnTo>
                    <a:pt x="1676400" y="58991"/>
                  </a:lnTo>
                  <a:lnTo>
                    <a:pt x="1676400" y="969708"/>
                  </a:lnTo>
                  <a:lnTo>
                    <a:pt x="1676400" y="973582"/>
                  </a:lnTo>
                  <a:lnTo>
                    <a:pt x="1676019" y="977417"/>
                  </a:lnTo>
                  <a:lnTo>
                    <a:pt x="1675269" y="981214"/>
                  </a:lnTo>
                  <a:lnTo>
                    <a:pt x="1674507" y="985012"/>
                  </a:lnTo>
                  <a:lnTo>
                    <a:pt x="1673390" y="988707"/>
                  </a:lnTo>
                  <a:lnTo>
                    <a:pt x="1671904" y="992276"/>
                  </a:lnTo>
                  <a:lnTo>
                    <a:pt x="1670431" y="995857"/>
                  </a:lnTo>
                  <a:lnTo>
                    <a:pt x="1668614" y="999261"/>
                  </a:lnTo>
                  <a:lnTo>
                    <a:pt x="1666455" y="1002474"/>
                  </a:lnTo>
                  <a:lnTo>
                    <a:pt x="1664309" y="1005700"/>
                  </a:lnTo>
                  <a:lnTo>
                    <a:pt x="1661858" y="1008684"/>
                  </a:lnTo>
                  <a:lnTo>
                    <a:pt x="1659115" y="1011415"/>
                  </a:lnTo>
                  <a:lnTo>
                    <a:pt x="1656384" y="1014158"/>
                  </a:lnTo>
                  <a:lnTo>
                    <a:pt x="1639976" y="1024204"/>
                  </a:lnTo>
                  <a:lnTo>
                    <a:pt x="1636395" y="1025690"/>
                  </a:lnTo>
                  <a:lnTo>
                    <a:pt x="1632712" y="1026807"/>
                  </a:lnTo>
                  <a:lnTo>
                    <a:pt x="1628914" y="1027569"/>
                  </a:lnTo>
                  <a:lnTo>
                    <a:pt x="1625117" y="1028319"/>
                  </a:lnTo>
                  <a:lnTo>
                    <a:pt x="1621282" y="1028700"/>
                  </a:lnTo>
                  <a:lnTo>
                    <a:pt x="1617408" y="1028700"/>
                  </a:lnTo>
                  <a:lnTo>
                    <a:pt x="58991" y="1028700"/>
                  </a:lnTo>
                  <a:lnTo>
                    <a:pt x="55118" y="1028700"/>
                  </a:lnTo>
                  <a:lnTo>
                    <a:pt x="51282" y="1028319"/>
                  </a:lnTo>
                  <a:lnTo>
                    <a:pt x="47485" y="1027569"/>
                  </a:lnTo>
                  <a:lnTo>
                    <a:pt x="43688" y="1026807"/>
                  </a:lnTo>
                  <a:lnTo>
                    <a:pt x="39992" y="1025690"/>
                  </a:lnTo>
                  <a:lnTo>
                    <a:pt x="36423" y="1024204"/>
                  </a:lnTo>
                  <a:lnTo>
                    <a:pt x="32842" y="1022718"/>
                  </a:lnTo>
                  <a:lnTo>
                    <a:pt x="17284" y="1011415"/>
                  </a:lnTo>
                  <a:lnTo>
                    <a:pt x="14541" y="1008684"/>
                  </a:lnTo>
                  <a:lnTo>
                    <a:pt x="12090" y="1005700"/>
                  </a:lnTo>
                  <a:lnTo>
                    <a:pt x="9944" y="1002474"/>
                  </a:lnTo>
                  <a:lnTo>
                    <a:pt x="7785" y="999261"/>
                  </a:lnTo>
                  <a:lnTo>
                    <a:pt x="5969" y="995857"/>
                  </a:lnTo>
                  <a:lnTo>
                    <a:pt x="4495" y="992276"/>
                  </a:lnTo>
                  <a:lnTo>
                    <a:pt x="3009" y="988707"/>
                  </a:lnTo>
                  <a:lnTo>
                    <a:pt x="1892" y="985012"/>
                  </a:lnTo>
                  <a:lnTo>
                    <a:pt x="1130" y="981214"/>
                  </a:lnTo>
                  <a:lnTo>
                    <a:pt x="381" y="977417"/>
                  </a:lnTo>
                  <a:lnTo>
                    <a:pt x="0" y="973582"/>
                  </a:lnTo>
                  <a:lnTo>
                    <a:pt x="0" y="969708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095525" y="2280197"/>
              <a:ext cx="161078" cy="267610"/>
            </a:xfrm>
            <a:prstGeom prst="rect">
              <a:avLst/>
            </a:prstGeom>
          </p:spPr>
        </p:pic>
      </p:grpSp>
      <p:sp>
        <p:nvSpPr>
          <p:cNvPr id="8" name="object 8" descr=""/>
          <p:cNvSpPr/>
          <p:nvPr/>
        </p:nvSpPr>
        <p:spPr>
          <a:xfrm>
            <a:off x="4114800" y="2928937"/>
            <a:ext cx="6591300" cy="9525"/>
          </a:xfrm>
          <a:custGeom>
            <a:avLst/>
            <a:gdLst/>
            <a:ahLst/>
            <a:cxnLst/>
            <a:rect l="l" t="t" r="r" b="b"/>
            <a:pathLst>
              <a:path w="6591300" h="9525">
                <a:moveTo>
                  <a:pt x="6584403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41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6584403" y="9525"/>
                </a:lnTo>
                <a:lnTo>
                  <a:pt x="6586651" y="9055"/>
                </a:lnTo>
                <a:lnTo>
                  <a:pt x="6590372" y="7200"/>
                </a:lnTo>
                <a:lnTo>
                  <a:pt x="6591300" y="6083"/>
                </a:lnTo>
                <a:lnTo>
                  <a:pt x="6591300" y="3441"/>
                </a:lnTo>
                <a:lnTo>
                  <a:pt x="6590372" y="2324"/>
                </a:lnTo>
                <a:lnTo>
                  <a:pt x="6586651" y="457"/>
                </a:lnTo>
                <a:lnTo>
                  <a:pt x="6584403" y="0"/>
                </a:lnTo>
                <a:close/>
              </a:path>
            </a:pathLst>
          </a:custGeom>
          <a:solidFill>
            <a:srgbClr val="D5CDB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1485900" y="3019424"/>
            <a:ext cx="3381375" cy="1323975"/>
            <a:chOff x="1485900" y="3019424"/>
            <a:chExt cx="3381375" cy="1323975"/>
          </a:xfrm>
        </p:grpSpPr>
        <p:sp>
          <p:nvSpPr>
            <p:cNvPr id="10" name="object 10" descr=""/>
            <p:cNvSpPr/>
            <p:nvPr/>
          </p:nvSpPr>
          <p:spPr>
            <a:xfrm>
              <a:off x="1490662" y="3024187"/>
              <a:ext cx="3371850" cy="1314450"/>
            </a:xfrm>
            <a:custGeom>
              <a:avLst/>
              <a:gdLst/>
              <a:ahLst/>
              <a:cxnLst/>
              <a:rect l="l" t="t" r="r" b="b"/>
              <a:pathLst>
                <a:path w="3371850" h="1314450">
                  <a:moveTo>
                    <a:pt x="3316732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1255458"/>
                  </a:lnTo>
                  <a:lnTo>
                    <a:pt x="0" y="1259332"/>
                  </a:lnTo>
                  <a:lnTo>
                    <a:pt x="20015" y="1299908"/>
                  </a:lnTo>
                  <a:lnTo>
                    <a:pt x="55118" y="1314450"/>
                  </a:lnTo>
                  <a:lnTo>
                    <a:pt x="3316732" y="1314450"/>
                  </a:lnTo>
                  <a:lnTo>
                    <a:pt x="3357308" y="1294434"/>
                  </a:lnTo>
                  <a:lnTo>
                    <a:pt x="3371850" y="1259332"/>
                  </a:lnTo>
                  <a:lnTo>
                    <a:pt x="3371850" y="55118"/>
                  </a:lnTo>
                  <a:lnTo>
                    <a:pt x="3351834" y="14541"/>
                  </a:lnTo>
                  <a:lnTo>
                    <a:pt x="3320567" y="381"/>
                  </a:lnTo>
                  <a:lnTo>
                    <a:pt x="331673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1490662" y="3024187"/>
              <a:ext cx="3371850" cy="1314450"/>
            </a:xfrm>
            <a:custGeom>
              <a:avLst/>
              <a:gdLst/>
              <a:ahLst/>
              <a:cxnLst/>
              <a:rect l="l" t="t" r="r" b="b"/>
              <a:pathLst>
                <a:path w="3371850" h="1314450">
                  <a:moveTo>
                    <a:pt x="0" y="12554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25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40005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312858" y="0"/>
                  </a:lnTo>
                  <a:lnTo>
                    <a:pt x="3316732" y="0"/>
                  </a:lnTo>
                  <a:lnTo>
                    <a:pt x="3320567" y="381"/>
                  </a:lnTo>
                  <a:lnTo>
                    <a:pt x="3324364" y="1130"/>
                  </a:lnTo>
                  <a:lnTo>
                    <a:pt x="3328162" y="1892"/>
                  </a:lnTo>
                  <a:lnTo>
                    <a:pt x="3331845" y="3009"/>
                  </a:lnTo>
                  <a:lnTo>
                    <a:pt x="3335426" y="4495"/>
                  </a:lnTo>
                  <a:lnTo>
                    <a:pt x="3339007" y="5969"/>
                  </a:lnTo>
                  <a:lnTo>
                    <a:pt x="3342411" y="7785"/>
                  </a:lnTo>
                  <a:lnTo>
                    <a:pt x="3345637" y="9944"/>
                  </a:lnTo>
                  <a:lnTo>
                    <a:pt x="3348850" y="12090"/>
                  </a:lnTo>
                  <a:lnTo>
                    <a:pt x="3351834" y="14541"/>
                  </a:lnTo>
                  <a:lnTo>
                    <a:pt x="3354565" y="17284"/>
                  </a:lnTo>
                  <a:lnTo>
                    <a:pt x="3357308" y="20015"/>
                  </a:lnTo>
                  <a:lnTo>
                    <a:pt x="3359759" y="22999"/>
                  </a:lnTo>
                  <a:lnTo>
                    <a:pt x="3361905" y="26225"/>
                  </a:lnTo>
                  <a:lnTo>
                    <a:pt x="3364052" y="29438"/>
                  </a:lnTo>
                  <a:lnTo>
                    <a:pt x="3365881" y="32842"/>
                  </a:lnTo>
                  <a:lnTo>
                    <a:pt x="3367354" y="36423"/>
                  </a:lnTo>
                  <a:lnTo>
                    <a:pt x="3368840" y="39992"/>
                  </a:lnTo>
                  <a:lnTo>
                    <a:pt x="3369957" y="43688"/>
                  </a:lnTo>
                  <a:lnTo>
                    <a:pt x="3370719" y="47485"/>
                  </a:lnTo>
                  <a:lnTo>
                    <a:pt x="3371469" y="51282"/>
                  </a:lnTo>
                  <a:lnTo>
                    <a:pt x="3371850" y="55118"/>
                  </a:lnTo>
                  <a:lnTo>
                    <a:pt x="3371850" y="58991"/>
                  </a:lnTo>
                  <a:lnTo>
                    <a:pt x="3371850" y="1255458"/>
                  </a:lnTo>
                  <a:lnTo>
                    <a:pt x="3371850" y="1259332"/>
                  </a:lnTo>
                  <a:lnTo>
                    <a:pt x="3371469" y="1263167"/>
                  </a:lnTo>
                  <a:lnTo>
                    <a:pt x="3370719" y="1266964"/>
                  </a:lnTo>
                  <a:lnTo>
                    <a:pt x="3369957" y="1270762"/>
                  </a:lnTo>
                  <a:lnTo>
                    <a:pt x="3368840" y="1274457"/>
                  </a:lnTo>
                  <a:lnTo>
                    <a:pt x="3367354" y="1278026"/>
                  </a:lnTo>
                  <a:lnTo>
                    <a:pt x="3365881" y="1281607"/>
                  </a:lnTo>
                  <a:lnTo>
                    <a:pt x="3364064" y="1285011"/>
                  </a:lnTo>
                  <a:lnTo>
                    <a:pt x="3361905" y="1288224"/>
                  </a:lnTo>
                  <a:lnTo>
                    <a:pt x="3359759" y="1291450"/>
                  </a:lnTo>
                  <a:lnTo>
                    <a:pt x="3357308" y="1294434"/>
                  </a:lnTo>
                  <a:lnTo>
                    <a:pt x="3354565" y="1297165"/>
                  </a:lnTo>
                  <a:lnTo>
                    <a:pt x="3351834" y="1299908"/>
                  </a:lnTo>
                  <a:lnTo>
                    <a:pt x="3335426" y="1309954"/>
                  </a:lnTo>
                  <a:lnTo>
                    <a:pt x="3331845" y="1311440"/>
                  </a:lnTo>
                  <a:lnTo>
                    <a:pt x="3328162" y="1312557"/>
                  </a:lnTo>
                  <a:lnTo>
                    <a:pt x="3324364" y="1313319"/>
                  </a:lnTo>
                  <a:lnTo>
                    <a:pt x="3320567" y="1314069"/>
                  </a:lnTo>
                  <a:lnTo>
                    <a:pt x="3316732" y="1314450"/>
                  </a:lnTo>
                  <a:lnTo>
                    <a:pt x="3312858" y="1314450"/>
                  </a:lnTo>
                  <a:lnTo>
                    <a:pt x="58991" y="1314450"/>
                  </a:lnTo>
                  <a:lnTo>
                    <a:pt x="55118" y="1314450"/>
                  </a:lnTo>
                  <a:lnTo>
                    <a:pt x="51282" y="1314069"/>
                  </a:lnTo>
                  <a:lnTo>
                    <a:pt x="47485" y="1313319"/>
                  </a:lnTo>
                  <a:lnTo>
                    <a:pt x="43688" y="1312557"/>
                  </a:lnTo>
                  <a:lnTo>
                    <a:pt x="40005" y="1311440"/>
                  </a:lnTo>
                  <a:lnTo>
                    <a:pt x="36423" y="1309954"/>
                  </a:lnTo>
                  <a:lnTo>
                    <a:pt x="32842" y="1308468"/>
                  </a:lnTo>
                  <a:lnTo>
                    <a:pt x="17284" y="1297165"/>
                  </a:lnTo>
                  <a:lnTo>
                    <a:pt x="14541" y="1294434"/>
                  </a:lnTo>
                  <a:lnTo>
                    <a:pt x="12090" y="1291450"/>
                  </a:lnTo>
                  <a:lnTo>
                    <a:pt x="9944" y="1288224"/>
                  </a:lnTo>
                  <a:lnTo>
                    <a:pt x="7785" y="1285011"/>
                  </a:lnTo>
                  <a:lnTo>
                    <a:pt x="5969" y="1281607"/>
                  </a:lnTo>
                  <a:lnTo>
                    <a:pt x="4495" y="1278026"/>
                  </a:lnTo>
                  <a:lnTo>
                    <a:pt x="3009" y="1274457"/>
                  </a:lnTo>
                  <a:lnTo>
                    <a:pt x="1892" y="1270762"/>
                  </a:lnTo>
                  <a:lnTo>
                    <a:pt x="1130" y="1266964"/>
                  </a:lnTo>
                  <a:lnTo>
                    <a:pt x="381" y="1263167"/>
                  </a:lnTo>
                  <a:lnTo>
                    <a:pt x="0" y="1259332"/>
                  </a:lnTo>
                  <a:lnTo>
                    <a:pt x="0" y="1255458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042237" y="3565794"/>
              <a:ext cx="267595" cy="249688"/>
            </a:xfrm>
            <a:prstGeom prst="rect">
              <a:avLst/>
            </a:prstGeom>
          </p:spPr>
        </p:pic>
      </p:grpSp>
      <p:sp>
        <p:nvSpPr>
          <p:cNvPr id="13" name="object 13" descr=""/>
          <p:cNvSpPr/>
          <p:nvPr/>
        </p:nvSpPr>
        <p:spPr>
          <a:xfrm>
            <a:off x="4962525" y="4338637"/>
            <a:ext cx="5743575" cy="9525"/>
          </a:xfrm>
          <a:custGeom>
            <a:avLst/>
            <a:gdLst/>
            <a:ahLst/>
            <a:cxnLst/>
            <a:rect l="l" t="t" r="r" b="b"/>
            <a:pathLst>
              <a:path w="5743575" h="9525">
                <a:moveTo>
                  <a:pt x="5736678" y="0"/>
                </a:moveTo>
                <a:lnTo>
                  <a:pt x="6896" y="0"/>
                </a:lnTo>
                <a:lnTo>
                  <a:pt x="4648" y="457"/>
                </a:lnTo>
                <a:lnTo>
                  <a:pt x="927" y="2324"/>
                </a:lnTo>
                <a:lnTo>
                  <a:pt x="0" y="3441"/>
                </a:lnTo>
                <a:lnTo>
                  <a:pt x="0" y="4762"/>
                </a:lnTo>
                <a:lnTo>
                  <a:pt x="0" y="6083"/>
                </a:lnTo>
                <a:lnTo>
                  <a:pt x="927" y="7200"/>
                </a:lnTo>
                <a:lnTo>
                  <a:pt x="4648" y="9055"/>
                </a:lnTo>
                <a:lnTo>
                  <a:pt x="6896" y="9525"/>
                </a:lnTo>
                <a:lnTo>
                  <a:pt x="5736678" y="9525"/>
                </a:lnTo>
                <a:lnTo>
                  <a:pt x="5738926" y="9055"/>
                </a:lnTo>
                <a:lnTo>
                  <a:pt x="5742647" y="7200"/>
                </a:lnTo>
                <a:lnTo>
                  <a:pt x="5743575" y="6083"/>
                </a:lnTo>
                <a:lnTo>
                  <a:pt x="5743575" y="3441"/>
                </a:lnTo>
                <a:lnTo>
                  <a:pt x="5742647" y="2324"/>
                </a:lnTo>
                <a:lnTo>
                  <a:pt x="5738926" y="457"/>
                </a:lnTo>
                <a:lnTo>
                  <a:pt x="5736678" y="0"/>
                </a:lnTo>
                <a:close/>
              </a:path>
            </a:pathLst>
          </a:custGeom>
          <a:solidFill>
            <a:srgbClr val="D5CDBD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14" name="object 14" descr=""/>
          <p:cNvGrpSpPr/>
          <p:nvPr/>
        </p:nvGrpSpPr>
        <p:grpSpPr>
          <a:xfrm>
            <a:off x="638175" y="4438649"/>
            <a:ext cx="5076825" cy="1323975"/>
            <a:chOff x="638175" y="4438649"/>
            <a:chExt cx="5076825" cy="1323975"/>
          </a:xfrm>
        </p:grpSpPr>
        <p:sp>
          <p:nvSpPr>
            <p:cNvPr id="15" name="object 15" descr=""/>
            <p:cNvSpPr/>
            <p:nvPr/>
          </p:nvSpPr>
          <p:spPr>
            <a:xfrm>
              <a:off x="642937" y="4443412"/>
              <a:ext cx="5067300" cy="1314450"/>
            </a:xfrm>
            <a:custGeom>
              <a:avLst/>
              <a:gdLst/>
              <a:ahLst/>
              <a:cxnLst/>
              <a:rect l="l" t="t" r="r" b="b"/>
              <a:pathLst>
                <a:path w="5067300" h="1314450">
                  <a:moveTo>
                    <a:pt x="5012182" y="0"/>
                  </a:moveTo>
                  <a:lnTo>
                    <a:pt x="55120" y="0"/>
                  </a:lnTo>
                  <a:lnTo>
                    <a:pt x="51286" y="381"/>
                  </a:lnTo>
                  <a:lnTo>
                    <a:pt x="14540" y="20015"/>
                  </a:lnTo>
                  <a:lnTo>
                    <a:pt x="0" y="55118"/>
                  </a:lnTo>
                  <a:lnTo>
                    <a:pt x="0" y="1255455"/>
                  </a:lnTo>
                  <a:lnTo>
                    <a:pt x="0" y="1259325"/>
                  </a:lnTo>
                  <a:lnTo>
                    <a:pt x="20017" y="1299911"/>
                  </a:lnTo>
                  <a:lnTo>
                    <a:pt x="55120" y="1314447"/>
                  </a:lnTo>
                  <a:lnTo>
                    <a:pt x="5012182" y="1314447"/>
                  </a:lnTo>
                  <a:lnTo>
                    <a:pt x="5052758" y="1294429"/>
                  </a:lnTo>
                  <a:lnTo>
                    <a:pt x="5067300" y="1259325"/>
                  </a:lnTo>
                  <a:lnTo>
                    <a:pt x="5067300" y="55118"/>
                  </a:lnTo>
                  <a:lnTo>
                    <a:pt x="5047284" y="14541"/>
                  </a:lnTo>
                  <a:lnTo>
                    <a:pt x="5016017" y="381"/>
                  </a:lnTo>
                  <a:lnTo>
                    <a:pt x="501218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42937" y="4443412"/>
              <a:ext cx="5067300" cy="1314450"/>
            </a:xfrm>
            <a:custGeom>
              <a:avLst/>
              <a:gdLst/>
              <a:ahLst/>
              <a:cxnLst/>
              <a:rect l="l" t="t" r="r" b="b"/>
              <a:pathLst>
                <a:path w="5067300" h="1314450">
                  <a:moveTo>
                    <a:pt x="0" y="1255455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77" y="51282"/>
                  </a:lnTo>
                  <a:lnTo>
                    <a:pt x="1131" y="47485"/>
                  </a:lnTo>
                  <a:lnTo>
                    <a:pt x="1889" y="43688"/>
                  </a:lnTo>
                  <a:lnTo>
                    <a:pt x="3006" y="39992"/>
                  </a:lnTo>
                  <a:lnTo>
                    <a:pt x="4489" y="36423"/>
                  </a:lnTo>
                  <a:lnTo>
                    <a:pt x="5972" y="32842"/>
                  </a:lnTo>
                  <a:lnTo>
                    <a:pt x="7788" y="29438"/>
                  </a:lnTo>
                  <a:lnTo>
                    <a:pt x="9941" y="26225"/>
                  </a:lnTo>
                  <a:lnTo>
                    <a:pt x="12094" y="22999"/>
                  </a:lnTo>
                  <a:lnTo>
                    <a:pt x="14540" y="20015"/>
                  </a:lnTo>
                  <a:lnTo>
                    <a:pt x="17278" y="17284"/>
                  </a:lnTo>
                  <a:lnTo>
                    <a:pt x="20017" y="14541"/>
                  </a:lnTo>
                  <a:lnTo>
                    <a:pt x="22998" y="12090"/>
                  </a:lnTo>
                  <a:lnTo>
                    <a:pt x="26219" y="9944"/>
                  </a:lnTo>
                  <a:lnTo>
                    <a:pt x="29438" y="7785"/>
                  </a:lnTo>
                  <a:lnTo>
                    <a:pt x="32840" y="5969"/>
                  </a:lnTo>
                  <a:lnTo>
                    <a:pt x="36418" y="4495"/>
                  </a:lnTo>
                  <a:lnTo>
                    <a:pt x="39999" y="3009"/>
                  </a:lnTo>
                  <a:lnTo>
                    <a:pt x="43685" y="1892"/>
                  </a:lnTo>
                  <a:lnTo>
                    <a:pt x="47486" y="1130"/>
                  </a:lnTo>
                  <a:lnTo>
                    <a:pt x="51286" y="381"/>
                  </a:lnTo>
                  <a:lnTo>
                    <a:pt x="55120" y="0"/>
                  </a:lnTo>
                  <a:lnTo>
                    <a:pt x="58995" y="0"/>
                  </a:lnTo>
                  <a:lnTo>
                    <a:pt x="5008308" y="0"/>
                  </a:lnTo>
                  <a:lnTo>
                    <a:pt x="5012182" y="0"/>
                  </a:lnTo>
                  <a:lnTo>
                    <a:pt x="5016017" y="381"/>
                  </a:lnTo>
                  <a:lnTo>
                    <a:pt x="5019814" y="1130"/>
                  </a:lnTo>
                  <a:lnTo>
                    <a:pt x="5023612" y="1892"/>
                  </a:lnTo>
                  <a:lnTo>
                    <a:pt x="5027295" y="3009"/>
                  </a:lnTo>
                  <a:lnTo>
                    <a:pt x="5030876" y="4495"/>
                  </a:lnTo>
                  <a:lnTo>
                    <a:pt x="5034457" y="5969"/>
                  </a:lnTo>
                  <a:lnTo>
                    <a:pt x="5037861" y="7785"/>
                  </a:lnTo>
                  <a:lnTo>
                    <a:pt x="5041087" y="9944"/>
                  </a:lnTo>
                  <a:lnTo>
                    <a:pt x="5044300" y="12090"/>
                  </a:lnTo>
                  <a:lnTo>
                    <a:pt x="5047284" y="14541"/>
                  </a:lnTo>
                  <a:lnTo>
                    <a:pt x="5050015" y="17284"/>
                  </a:lnTo>
                  <a:lnTo>
                    <a:pt x="5052758" y="20015"/>
                  </a:lnTo>
                  <a:lnTo>
                    <a:pt x="5055209" y="22999"/>
                  </a:lnTo>
                  <a:lnTo>
                    <a:pt x="5057355" y="26225"/>
                  </a:lnTo>
                  <a:lnTo>
                    <a:pt x="5059502" y="29438"/>
                  </a:lnTo>
                  <a:lnTo>
                    <a:pt x="5061331" y="32842"/>
                  </a:lnTo>
                  <a:lnTo>
                    <a:pt x="5062804" y="36423"/>
                  </a:lnTo>
                  <a:lnTo>
                    <a:pt x="5064290" y="39992"/>
                  </a:lnTo>
                  <a:lnTo>
                    <a:pt x="5065407" y="43688"/>
                  </a:lnTo>
                  <a:lnTo>
                    <a:pt x="5066169" y="47485"/>
                  </a:lnTo>
                  <a:lnTo>
                    <a:pt x="5066919" y="51282"/>
                  </a:lnTo>
                  <a:lnTo>
                    <a:pt x="5067300" y="55118"/>
                  </a:lnTo>
                  <a:lnTo>
                    <a:pt x="5067300" y="58991"/>
                  </a:lnTo>
                  <a:lnTo>
                    <a:pt x="5067300" y="1255455"/>
                  </a:lnTo>
                  <a:lnTo>
                    <a:pt x="5067300" y="1259325"/>
                  </a:lnTo>
                  <a:lnTo>
                    <a:pt x="5066919" y="1263166"/>
                  </a:lnTo>
                  <a:lnTo>
                    <a:pt x="5066169" y="1266960"/>
                  </a:lnTo>
                  <a:lnTo>
                    <a:pt x="5065407" y="1270760"/>
                  </a:lnTo>
                  <a:lnTo>
                    <a:pt x="5064290" y="1274451"/>
                  </a:lnTo>
                  <a:lnTo>
                    <a:pt x="5062804" y="1278028"/>
                  </a:lnTo>
                  <a:lnTo>
                    <a:pt x="5061331" y="1281610"/>
                  </a:lnTo>
                  <a:lnTo>
                    <a:pt x="5050015" y="1297167"/>
                  </a:lnTo>
                  <a:lnTo>
                    <a:pt x="5047284" y="1299911"/>
                  </a:lnTo>
                  <a:lnTo>
                    <a:pt x="5030876" y="1309956"/>
                  </a:lnTo>
                  <a:lnTo>
                    <a:pt x="5027295" y="1311440"/>
                  </a:lnTo>
                  <a:lnTo>
                    <a:pt x="5023612" y="1312561"/>
                  </a:lnTo>
                  <a:lnTo>
                    <a:pt x="5019814" y="1313315"/>
                  </a:lnTo>
                  <a:lnTo>
                    <a:pt x="5016017" y="1314070"/>
                  </a:lnTo>
                  <a:lnTo>
                    <a:pt x="5012182" y="1314447"/>
                  </a:lnTo>
                  <a:lnTo>
                    <a:pt x="5008308" y="1314447"/>
                  </a:lnTo>
                  <a:lnTo>
                    <a:pt x="58995" y="1314447"/>
                  </a:lnTo>
                  <a:lnTo>
                    <a:pt x="55120" y="1314447"/>
                  </a:lnTo>
                  <a:lnTo>
                    <a:pt x="51286" y="1314070"/>
                  </a:lnTo>
                  <a:lnTo>
                    <a:pt x="47486" y="1313315"/>
                  </a:lnTo>
                  <a:lnTo>
                    <a:pt x="43685" y="1312561"/>
                  </a:lnTo>
                  <a:lnTo>
                    <a:pt x="26219" y="1304505"/>
                  </a:lnTo>
                  <a:lnTo>
                    <a:pt x="22998" y="1302357"/>
                  </a:lnTo>
                  <a:lnTo>
                    <a:pt x="20017" y="1299911"/>
                  </a:lnTo>
                  <a:lnTo>
                    <a:pt x="17278" y="1297167"/>
                  </a:lnTo>
                  <a:lnTo>
                    <a:pt x="14540" y="1294429"/>
                  </a:lnTo>
                  <a:lnTo>
                    <a:pt x="12094" y="1291447"/>
                  </a:lnTo>
                  <a:lnTo>
                    <a:pt x="9941" y="1288228"/>
                  </a:lnTo>
                  <a:lnTo>
                    <a:pt x="7788" y="1285008"/>
                  </a:lnTo>
                  <a:lnTo>
                    <a:pt x="5972" y="1281610"/>
                  </a:lnTo>
                  <a:lnTo>
                    <a:pt x="4489" y="1278028"/>
                  </a:lnTo>
                  <a:lnTo>
                    <a:pt x="3006" y="1274451"/>
                  </a:lnTo>
                  <a:lnTo>
                    <a:pt x="1889" y="1270760"/>
                  </a:lnTo>
                  <a:lnTo>
                    <a:pt x="1131" y="1266960"/>
                  </a:lnTo>
                  <a:lnTo>
                    <a:pt x="377" y="1263166"/>
                  </a:lnTo>
                  <a:lnTo>
                    <a:pt x="0" y="1259325"/>
                  </a:lnTo>
                  <a:lnTo>
                    <a:pt x="0" y="1255455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048000" y="5008727"/>
              <a:ext cx="256540" cy="182880"/>
            </a:xfrm>
            <a:custGeom>
              <a:avLst/>
              <a:gdLst/>
              <a:ahLst/>
              <a:cxnLst/>
              <a:rect l="l" t="t" r="r" b="b"/>
              <a:pathLst>
                <a:path w="256539" h="182879">
                  <a:moveTo>
                    <a:pt x="173215" y="147421"/>
                  </a:moveTo>
                  <a:lnTo>
                    <a:pt x="175793" y="148501"/>
                  </a:lnTo>
                  <a:lnTo>
                    <a:pt x="178981" y="149199"/>
                  </a:lnTo>
                  <a:lnTo>
                    <a:pt x="192074" y="149326"/>
                  </a:lnTo>
                </a:path>
                <a:path w="256539" h="182879">
                  <a:moveTo>
                    <a:pt x="212077" y="149275"/>
                  </a:moveTo>
                  <a:lnTo>
                    <a:pt x="216217" y="148945"/>
                  </a:lnTo>
                  <a:lnTo>
                    <a:pt x="218008" y="148539"/>
                  </a:lnTo>
                  <a:lnTo>
                    <a:pt x="219621" y="147916"/>
                  </a:lnTo>
                </a:path>
                <a:path w="256539" h="182879">
                  <a:moveTo>
                    <a:pt x="25" y="149517"/>
                  </a:moveTo>
                  <a:lnTo>
                    <a:pt x="22745" y="181864"/>
                  </a:lnTo>
                  <a:lnTo>
                    <a:pt x="32905" y="182702"/>
                  </a:lnTo>
                  <a:lnTo>
                    <a:pt x="41275" y="182765"/>
                  </a:lnTo>
                </a:path>
                <a:path w="256539" h="182879">
                  <a:moveTo>
                    <a:pt x="224066" y="182765"/>
                  </a:moveTo>
                  <a:lnTo>
                    <a:pt x="255397" y="158559"/>
                  </a:lnTo>
                  <a:lnTo>
                    <a:pt x="256108" y="147777"/>
                  </a:lnTo>
                  <a:lnTo>
                    <a:pt x="256133" y="139395"/>
                  </a:lnTo>
                </a:path>
                <a:path w="256539" h="182879">
                  <a:moveTo>
                    <a:pt x="256120" y="33070"/>
                  </a:moveTo>
                  <a:lnTo>
                    <a:pt x="231940" y="711"/>
                  </a:lnTo>
                  <a:lnTo>
                    <a:pt x="220560" y="25"/>
                  </a:lnTo>
                  <a:lnTo>
                    <a:pt x="211416" y="0"/>
                  </a:lnTo>
                </a:path>
                <a:path w="256539" h="182879">
                  <a:moveTo>
                    <a:pt x="34340" y="0"/>
                  </a:moveTo>
                  <a:lnTo>
                    <a:pt x="774" y="22288"/>
                  </a:lnTo>
                  <a:lnTo>
                    <a:pt x="12" y="32016"/>
                  </a:lnTo>
                  <a:lnTo>
                    <a:pt x="25" y="39954"/>
                  </a:lnTo>
                </a:path>
                <a:path w="256539" h="182879">
                  <a:moveTo>
                    <a:pt x="256120" y="80137"/>
                  </a:moveTo>
                  <a:lnTo>
                    <a:pt x="25" y="80441"/>
                  </a:lnTo>
                </a:path>
                <a:path w="256539" h="182879">
                  <a:moveTo>
                    <a:pt x="0" y="82423"/>
                  </a:moveTo>
                  <a:lnTo>
                    <a:pt x="25" y="149517"/>
                  </a:lnTo>
                </a:path>
                <a:path w="256539" h="182879">
                  <a:moveTo>
                    <a:pt x="256120" y="42595"/>
                  </a:moveTo>
                  <a:lnTo>
                    <a:pt x="25" y="42633"/>
                  </a:lnTo>
                </a:path>
                <a:path w="256539" h="182879">
                  <a:moveTo>
                    <a:pt x="173863" y="106718"/>
                  </a:moveTo>
                  <a:lnTo>
                    <a:pt x="220014" y="106629"/>
                  </a:lnTo>
                </a:path>
                <a:path w="256539" h="182879">
                  <a:moveTo>
                    <a:pt x="173863" y="106718"/>
                  </a:moveTo>
                  <a:lnTo>
                    <a:pt x="170764" y="109232"/>
                  </a:lnTo>
                  <a:lnTo>
                    <a:pt x="170116" y="110439"/>
                  </a:lnTo>
                </a:path>
                <a:path w="256539" h="182879">
                  <a:moveTo>
                    <a:pt x="170129" y="110439"/>
                  </a:moveTo>
                  <a:lnTo>
                    <a:pt x="170040" y="143637"/>
                  </a:lnTo>
                  <a:lnTo>
                    <a:pt x="170256" y="144106"/>
                  </a:lnTo>
                  <a:lnTo>
                    <a:pt x="170497" y="144564"/>
                  </a:lnTo>
                  <a:lnTo>
                    <a:pt x="170776" y="144995"/>
                  </a:lnTo>
                </a:path>
                <a:path w="256539" h="182879">
                  <a:moveTo>
                    <a:pt x="170789" y="144995"/>
                  </a:moveTo>
                  <a:lnTo>
                    <a:pt x="171297" y="145757"/>
                  </a:lnTo>
                  <a:lnTo>
                    <a:pt x="171907" y="146418"/>
                  </a:lnTo>
                  <a:lnTo>
                    <a:pt x="172618" y="147002"/>
                  </a:lnTo>
                  <a:lnTo>
                    <a:pt x="173215" y="147421"/>
                  </a:lnTo>
                </a:path>
                <a:path w="256539" h="182879">
                  <a:moveTo>
                    <a:pt x="219621" y="147916"/>
                  </a:moveTo>
                  <a:lnTo>
                    <a:pt x="223761" y="143027"/>
                  </a:lnTo>
                  <a:lnTo>
                    <a:pt x="223710" y="111340"/>
                  </a:lnTo>
                  <a:lnTo>
                    <a:pt x="223418" y="110680"/>
                  </a:lnTo>
                  <a:lnTo>
                    <a:pt x="223164" y="110197"/>
                  </a:lnTo>
                  <a:lnTo>
                    <a:pt x="222885" y="109740"/>
                  </a:lnTo>
                  <a:lnTo>
                    <a:pt x="222567" y="109296"/>
                  </a:lnTo>
                  <a:lnTo>
                    <a:pt x="220014" y="106629"/>
                  </a:lnTo>
                </a:path>
                <a:path w="256539" h="182879">
                  <a:moveTo>
                    <a:pt x="34671" y="137718"/>
                  </a:moveTo>
                  <a:lnTo>
                    <a:pt x="105232" y="137706"/>
                  </a:lnTo>
                </a:path>
                <a:path w="256539" h="182879">
                  <a:moveTo>
                    <a:pt x="192074" y="149326"/>
                  </a:moveTo>
                  <a:lnTo>
                    <a:pt x="212077" y="149275"/>
                  </a:lnTo>
                </a:path>
                <a:path w="256539" h="182879">
                  <a:moveTo>
                    <a:pt x="41275" y="182765"/>
                  </a:moveTo>
                  <a:lnTo>
                    <a:pt x="224066" y="182765"/>
                  </a:lnTo>
                </a:path>
                <a:path w="256539" h="182879">
                  <a:moveTo>
                    <a:pt x="256133" y="139395"/>
                  </a:moveTo>
                  <a:lnTo>
                    <a:pt x="256120" y="33070"/>
                  </a:lnTo>
                </a:path>
                <a:path w="256539" h="182879">
                  <a:moveTo>
                    <a:pt x="211416" y="0"/>
                  </a:moveTo>
                  <a:lnTo>
                    <a:pt x="34340" y="0"/>
                  </a:lnTo>
                </a:path>
                <a:path w="256539" h="182879">
                  <a:moveTo>
                    <a:pt x="25" y="39954"/>
                  </a:moveTo>
                  <a:lnTo>
                    <a:pt x="0" y="82423"/>
                  </a:lnTo>
                </a:path>
              </a:pathLst>
            </a:custGeom>
            <a:ln w="11345">
              <a:solidFill>
                <a:srgbClr val="2B344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624878" y="1414906"/>
            <a:ext cx="9965690" cy="481647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EMBRACE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offers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flexible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revenue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models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designed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sustainable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growth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broad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market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appeal.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70"/>
              </a:spcBef>
            </a:pPr>
            <a:endParaRPr sz="1400">
              <a:latin typeface="Verdana"/>
              <a:cs typeface="Verdana"/>
            </a:endParaRPr>
          </a:p>
          <a:p>
            <a:pPr marL="3579495">
              <a:lnSpc>
                <a:spcPct val="100000"/>
              </a:lnSpc>
            </a:pPr>
            <a:r>
              <a:rPr dirty="0" sz="1650" spc="-45">
                <a:solidFill>
                  <a:srgbClr val="2B3440"/>
                </a:solidFill>
                <a:latin typeface="Verdana"/>
                <a:cs typeface="Verdana"/>
              </a:rPr>
              <a:t>Custom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Integrations</a:t>
            </a:r>
            <a:endParaRPr sz="1650">
              <a:latin typeface="Verdana"/>
              <a:cs typeface="Verdana"/>
            </a:endParaRPr>
          </a:p>
          <a:p>
            <a:pPr marL="3579495">
              <a:lnSpc>
                <a:spcPct val="100000"/>
              </a:lnSpc>
              <a:spcBef>
                <a:spcPts val="1195"/>
              </a:spcBef>
            </a:pP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Tailored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services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dedicated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support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unique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institutional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0">
                <a:solidFill>
                  <a:srgbClr val="2B3440"/>
                </a:solidFill>
                <a:latin typeface="Verdana"/>
                <a:cs typeface="Verdana"/>
              </a:rPr>
              <a:t>requirements.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1400">
              <a:latin typeface="Verdana"/>
              <a:cs typeface="Verdana"/>
            </a:endParaRPr>
          </a:p>
          <a:p>
            <a:pPr marL="4425950">
              <a:lnSpc>
                <a:spcPct val="100000"/>
              </a:lnSpc>
            </a:pPr>
            <a:r>
              <a:rPr dirty="0" sz="1650" spc="-40">
                <a:solidFill>
                  <a:srgbClr val="2B3440"/>
                </a:solidFill>
                <a:latin typeface="Verdana"/>
                <a:cs typeface="Verdana"/>
              </a:rPr>
              <a:t>Licensing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30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Institutions</a:t>
            </a:r>
            <a:endParaRPr sz="1650">
              <a:latin typeface="Verdana"/>
              <a:cs typeface="Verdana"/>
            </a:endParaRPr>
          </a:p>
          <a:p>
            <a:pPr marL="4425950" marR="454025">
              <a:lnSpc>
                <a:spcPct val="138400"/>
              </a:lnSpc>
              <a:spcBef>
                <a:spcPts val="550"/>
              </a:spcBef>
            </a:pP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Enterprise-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level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agreements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schools,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universities,</a:t>
            </a:r>
            <a:r>
              <a:rPr dirty="0" sz="1400" spc="-1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B3440"/>
                </a:solidFill>
                <a:latin typeface="Verdana"/>
                <a:cs typeface="Verdana"/>
              </a:rPr>
              <a:t>training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providers.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1400">
              <a:latin typeface="Verdana"/>
              <a:cs typeface="Verdana"/>
            </a:endParaRPr>
          </a:p>
          <a:p>
            <a:pPr marL="5271770">
              <a:lnSpc>
                <a:spcPct val="100000"/>
              </a:lnSpc>
            </a:pP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Subscription</a:t>
            </a:r>
            <a:r>
              <a:rPr dirty="0" sz="1650" spc="-11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Plans</a:t>
            </a:r>
            <a:endParaRPr sz="1650">
              <a:latin typeface="Verdana"/>
              <a:cs typeface="Verdana"/>
            </a:endParaRPr>
          </a:p>
          <a:p>
            <a:pPr marL="5271770" marR="5080">
              <a:lnSpc>
                <a:spcPct val="133900"/>
              </a:lnSpc>
              <a:spcBef>
                <a:spcPts val="700"/>
              </a:spcBef>
            </a:pP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Tiered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offerings: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Free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40">
                <a:solidFill>
                  <a:srgbClr val="2B3440"/>
                </a:solidFill>
                <a:latin typeface="Verdana"/>
                <a:cs typeface="Verdana"/>
              </a:rPr>
              <a:t>(basic),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2B3440"/>
                </a:solidFill>
                <a:latin typeface="Verdana"/>
                <a:cs typeface="Verdana"/>
              </a:rPr>
              <a:t>Pro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45">
                <a:solidFill>
                  <a:srgbClr val="2B3440"/>
                </a:solidFill>
                <a:latin typeface="Verdana"/>
                <a:cs typeface="Verdana"/>
              </a:rPr>
              <a:t>(advanced),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Enterprise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(fully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40">
                <a:solidFill>
                  <a:srgbClr val="2B3440"/>
                </a:solidFill>
                <a:latin typeface="Verdana"/>
                <a:cs typeface="Verdana"/>
              </a:rPr>
              <a:t>customisable).</a:t>
            </a: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</a:pPr>
            <a:endParaRPr sz="1400">
              <a:latin typeface="Verdana"/>
              <a:cs typeface="Verdana"/>
            </a:endParaRPr>
          </a:p>
          <a:p>
            <a:pPr>
              <a:lnSpc>
                <a:spcPct val="100000"/>
              </a:lnSpc>
              <a:spcBef>
                <a:spcPts val="315"/>
              </a:spcBef>
            </a:pPr>
            <a:endParaRPr sz="1400">
              <a:latin typeface="Verdana"/>
              <a:cs typeface="Verdana"/>
            </a:endParaRPr>
          </a:p>
          <a:p>
            <a:pPr marL="12700">
              <a:lnSpc>
                <a:spcPct val="100000"/>
              </a:lnSpc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Our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diversified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approach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ensures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accessibility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various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client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types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20">
                <a:solidFill>
                  <a:srgbClr val="2B3440"/>
                </a:solidFill>
                <a:latin typeface="Verdana"/>
                <a:cs typeface="Verdana"/>
              </a:rPr>
              <a:t>maximises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revenue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potential.</a:t>
            </a:r>
            <a:endParaRPr sz="1400">
              <a:latin typeface="Verdana"/>
              <a:cs typeface="Verdana"/>
            </a:endParaRPr>
          </a:p>
        </p:txBody>
      </p:sp>
      <p:pic>
        <p:nvPicPr>
          <p:cNvPr id="19" name="object 19" descr="">
            <a:hlinkClick r:id="rId4"/>
          </p:cNvPr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580244" y="6255257"/>
            <a:ext cx="1754504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0" y="0"/>
            <a:ext cx="11430000" cy="8001000"/>
          </a:xfrm>
          <a:custGeom>
            <a:avLst/>
            <a:gdLst/>
            <a:ahLst/>
            <a:cxnLst/>
            <a:rect l="l" t="t" r="r" b="b"/>
            <a:pathLst>
              <a:path w="11430000" h="8001000">
                <a:moveTo>
                  <a:pt x="11430000" y="0"/>
                </a:moveTo>
                <a:lnTo>
                  <a:pt x="0" y="0"/>
                </a:lnTo>
                <a:lnTo>
                  <a:pt x="0" y="8001000"/>
                </a:lnTo>
                <a:lnTo>
                  <a:pt x="11430000" y="8001000"/>
                </a:lnTo>
                <a:lnTo>
                  <a:pt x="11430000" y="0"/>
                </a:lnTo>
                <a:close/>
              </a:path>
            </a:pathLst>
          </a:custGeom>
          <a:solidFill>
            <a:srgbClr val="FAF5EB"/>
          </a:solidFill>
        </p:spPr>
        <p:txBody>
          <a:bodyPr wrap="square" lIns="0" tIns="0" rIns="0" bIns="0" rtlCol="0"/>
          <a:lstStyle/>
          <a:p/>
        </p:txBody>
      </p:sp>
      <p:grpSp>
        <p:nvGrpSpPr>
          <p:cNvPr id="3" name="object 3" descr=""/>
          <p:cNvGrpSpPr/>
          <p:nvPr/>
        </p:nvGrpSpPr>
        <p:grpSpPr>
          <a:xfrm>
            <a:off x="7143750" y="0"/>
            <a:ext cx="4286250" cy="8001000"/>
            <a:chOff x="7143750" y="0"/>
            <a:chExt cx="4286250" cy="800100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143750" y="0"/>
              <a:ext cx="4286250" cy="8000999"/>
            </a:xfrm>
            <a:prstGeom prst="rect">
              <a:avLst/>
            </a:prstGeom>
          </p:spPr>
        </p:pic>
        <p:pic>
          <p:nvPicPr>
            <p:cNvPr id="5" name="object 5" descr="">
              <a:hlinkClick r:id="rId3"/>
            </p:cNvPr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580244" y="7486650"/>
              <a:ext cx="1754504" cy="419100"/>
            </a:xfrm>
            <a:prstGeom prst="rect">
              <a:avLst/>
            </a:prstGeom>
          </p:spPr>
        </p:pic>
      </p:grp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pc="-85"/>
              <a:t>Roadmap</a:t>
            </a:r>
            <a:r>
              <a:rPr dirty="0" spc="-375"/>
              <a:t> </a:t>
            </a:r>
            <a:r>
              <a:rPr dirty="0" spc="-180"/>
              <a:t>&amp;</a:t>
            </a:r>
            <a:r>
              <a:rPr dirty="0" spc="-375"/>
              <a:t> </a:t>
            </a:r>
            <a:r>
              <a:rPr dirty="0" spc="-110"/>
              <a:t>Future</a:t>
            </a:r>
            <a:r>
              <a:rPr dirty="0" spc="-375"/>
              <a:t> </a:t>
            </a:r>
            <a:r>
              <a:rPr dirty="0" spc="-70"/>
              <a:t>Horizons</a:t>
            </a:r>
          </a:p>
        </p:txBody>
      </p:sp>
      <p:sp>
        <p:nvSpPr>
          <p:cNvPr id="7" name="object 7" descr=""/>
          <p:cNvSpPr txBox="1"/>
          <p:nvPr/>
        </p:nvSpPr>
        <p:spPr>
          <a:xfrm>
            <a:off x="624879" y="1261973"/>
            <a:ext cx="5493385" cy="59690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3900"/>
              </a:lnSpc>
              <a:spcBef>
                <a:spcPts val="90"/>
              </a:spcBef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Our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journey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continues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with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exciting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milestones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planned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55">
                <a:solidFill>
                  <a:srgbClr val="2B3440"/>
                </a:solidFill>
                <a:latin typeface="Verdana"/>
                <a:cs typeface="Verdana"/>
              </a:rPr>
              <a:t>enhancing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EMBRACE.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8" name="object 8" descr=""/>
          <p:cNvGrpSpPr/>
          <p:nvPr/>
        </p:nvGrpSpPr>
        <p:grpSpPr>
          <a:xfrm>
            <a:off x="2843365" y="2095500"/>
            <a:ext cx="933450" cy="4619625"/>
            <a:chOff x="2843365" y="2095500"/>
            <a:chExt cx="933450" cy="4619625"/>
          </a:xfrm>
        </p:grpSpPr>
        <p:sp>
          <p:nvSpPr>
            <p:cNvPr id="9" name="object 9" descr=""/>
            <p:cNvSpPr/>
            <p:nvPr/>
          </p:nvSpPr>
          <p:spPr>
            <a:xfrm>
              <a:off x="2843365" y="2095499"/>
              <a:ext cx="738505" cy="4619625"/>
            </a:xfrm>
            <a:custGeom>
              <a:avLst/>
              <a:gdLst/>
              <a:ahLst/>
              <a:cxnLst/>
              <a:rect l="l" t="t" r="r" b="b"/>
              <a:pathLst>
                <a:path w="738504" h="4619625">
                  <a:moveTo>
                    <a:pt x="542925" y="206921"/>
                  </a:moveTo>
                  <a:lnTo>
                    <a:pt x="541997" y="204673"/>
                  </a:lnTo>
                  <a:lnTo>
                    <a:pt x="538276" y="200952"/>
                  </a:lnTo>
                  <a:lnTo>
                    <a:pt x="536028" y="200025"/>
                  </a:lnTo>
                  <a:lnTo>
                    <a:pt x="6896" y="200025"/>
                  </a:lnTo>
                  <a:lnTo>
                    <a:pt x="4648" y="200952"/>
                  </a:lnTo>
                  <a:lnTo>
                    <a:pt x="927" y="204673"/>
                  </a:lnTo>
                  <a:lnTo>
                    <a:pt x="0" y="206921"/>
                  </a:lnTo>
                  <a:lnTo>
                    <a:pt x="0" y="209550"/>
                  </a:lnTo>
                  <a:lnTo>
                    <a:pt x="0" y="212178"/>
                  </a:lnTo>
                  <a:lnTo>
                    <a:pt x="927" y="214426"/>
                  </a:lnTo>
                  <a:lnTo>
                    <a:pt x="4648" y="218160"/>
                  </a:lnTo>
                  <a:lnTo>
                    <a:pt x="6896" y="219075"/>
                  </a:lnTo>
                  <a:lnTo>
                    <a:pt x="536028" y="219075"/>
                  </a:lnTo>
                  <a:lnTo>
                    <a:pt x="538276" y="218160"/>
                  </a:lnTo>
                  <a:lnTo>
                    <a:pt x="541997" y="214426"/>
                  </a:lnTo>
                  <a:lnTo>
                    <a:pt x="542925" y="212178"/>
                  </a:lnTo>
                  <a:lnTo>
                    <a:pt x="542925" y="206921"/>
                  </a:lnTo>
                  <a:close/>
                </a:path>
                <a:path w="738504" h="4619625">
                  <a:moveTo>
                    <a:pt x="738035" y="6896"/>
                  </a:moveTo>
                  <a:lnTo>
                    <a:pt x="737108" y="4648"/>
                  </a:lnTo>
                  <a:lnTo>
                    <a:pt x="733386" y="927"/>
                  </a:lnTo>
                  <a:lnTo>
                    <a:pt x="731139" y="0"/>
                  </a:lnTo>
                  <a:lnTo>
                    <a:pt x="725881" y="0"/>
                  </a:lnTo>
                  <a:lnTo>
                    <a:pt x="723633" y="927"/>
                  </a:lnTo>
                  <a:lnTo>
                    <a:pt x="719912" y="4648"/>
                  </a:lnTo>
                  <a:lnTo>
                    <a:pt x="718985" y="6896"/>
                  </a:lnTo>
                  <a:lnTo>
                    <a:pt x="718985" y="4610100"/>
                  </a:lnTo>
                  <a:lnTo>
                    <a:pt x="718985" y="4612729"/>
                  </a:lnTo>
                  <a:lnTo>
                    <a:pt x="719912" y="4614977"/>
                  </a:lnTo>
                  <a:lnTo>
                    <a:pt x="723633" y="4618698"/>
                  </a:lnTo>
                  <a:lnTo>
                    <a:pt x="725881" y="4619625"/>
                  </a:lnTo>
                  <a:lnTo>
                    <a:pt x="731139" y="4619625"/>
                  </a:lnTo>
                  <a:lnTo>
                    <a:pt x="733386" y="4618698"/>
                  </a:lnTo>
                  <a:lnTo>
                    <a:pt x="737108" y="4614977"/>
                  </a:lnTo>
                  <a:lnTo>
                    <a:pt x="738035" y="4612729"/>
                  </a:lnTo>
                  <a:lnTo>
                    <a:pt x="738035" y="6896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3372002" y="21002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19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19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54" y="381"/>
                  </a:lnTo>
                  <a:lnTo>
                    <a:pt x="344919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3372002" y="210026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68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2997" y="39992"/>
                  </a:lnTo>
                  <a:lnTo>
                    <a:pt x="4483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72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10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45" y="0"/>
                  </a:lnTo>
                  <a:lnTo>
                    <a:pt x="344919" y="0"/>
                  </a:lnTo>
                  <a:lnTo>
                    <a:pt x="348754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24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07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69" y="348767"/>
                  </a:lnTo>
                  <a:lnTo>
                    <a:pt x="398907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68" y="367207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77050" y="387959"/>
                  </a:lnTo>
                  <a:lnTo>
                    <a:pt x="373824" y="390105"/>
                  </a:lnTo>
                  <a:lnTo>
                    <a:pt x="370611" y="392264"/>
                  </a:lnTo>
                  <a:lnTo>
                    <a:pt x="367207" y="394081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54" y="399669"/>
                  </a:lnTo>
                  <a:lnTo>
                    <a:pt x="344919" y="400050"/>
                  </a:lnTo>
                  <a:lnTo>
                    <a:pt x="341045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10" y="395554"/>
                  </a:lnTo>
                  <a:lnTo>
                    <a:pt x="32842" y="394081"/>
                  </a:lnTo>
                  <a:lnTo>
                    <a:pt x="29438" y="392264"/>
                  </a:lnTo>
                  <a:lnTo>
                    <a:pt x="26212" y="390105"/>
                  </a:lnTo>
                  <a:lnTo>
                    <a:pt x="22999" y="387959"/>
                  </a:lnTo>
                  <a:lnTo>
                    <a:pt x="9944" y="373837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83" y="363626"/>
                  </a:lnTo>
                  <a:lnTo>
                    <a:pt x="2997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68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3486988" y="2122093"/>
            <a:ext cx="1733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>
                <a:solidFill>
                  <a:srgbClr val="2B3440"/>
                </a:solidFill>
                <a:latin typeface="Verdana"/>
                <a:cs typeface="Verdana"/>
              </a:rPr>
              <a:t>1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 descr=""/>
          <p:cNvSpPr txBox="1"/>
          <p:nvPr/>
        </p:nvSpPr>
        <p:spPr>
          <a:xfrm>
            <a:off x="675624" y="2144715"/>
            <a:ext cx="2002155" cy="150495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650" spc="-55">
                <a:solidFill>
                  <a:srgbClr val="2B3440"/>
                </a:solidFill>
                <a:latin typeface="Verdana"/>
                <a:cs typeface="Verdana"/>
              </a:rPr>
              <a:t>Beta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65">
                <a:solidFill>
                  <a:srgbClr val="2B3440"/>
                </a:solidFill>
                <a:latin typeface="Verdana"/>
                <a:cs typeface="Verdana"/>
              </a:rPr>
              <a:t>Release</a:t>
            </a:r>
            <a:r>
              <a:rPr dirty="0" sz="1650" spc="-18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endParaRPr sz="165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20"/>
              </a:spcBef>
            </a:pP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Testing</a:t>
            </a:r>
            <a:endParaRPr sz="165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1270"/>
              </a:spcBef>
            </a:pP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Launch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early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adopters,</a:t>
            </a:r>
            <a:endParaRPr sz="1400">
              <a:latin typeface="Verdana"/>
              <a:cs typeface="Verdana"/>
            </a:endParaRPr>
          </a:p>
          <a:p>
            <a:pPr algn="r" marL="59055" marR="5080" indent="602615">
              <a:lnSpc>
                <a:spcPts val="2330"/>
              </a:lnSpc>
              <a:spcBef>
                <a:spcPts val="25"/>
              </a:spcBef>
            </a:pP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gathering</a:t>
            </a:r>
            <a:r>
              <a:rPr dirty="0" sz="1400" spc="-12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0">
                <a:solidFill>
                  <a:srgbClr val="2B3440"/>
                </a:solidFill>
                <a:latin typeface="Verdana"/>
                <a:cs typeface="Verdana"/>
              </a:rPr>
              <a:t>crucial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feedback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refinement.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14" name="object 14" descr=""/>
          <p:cNvGrpSpPr/>
          <p:nvPr/>
        </p:nvGrpSpPr>
        <p:grpSpPr>
          <a:xfrm>
            <a:off x="3366935" y="3190875"/>
            <a:ext cx="933450" cy="409575"/>
            <a:chOff x="3366935" y="3190875"/>
            <a:chExt cx="933450" cy="409575"/>
          </a:xfrm>
        </p:grpSpPr>
        <p:sp>
          <p:nvSpPr>
            <p:cNvPr id="15" name="object 15" descr=""/>
            <p:cNvSpPr/>
            <p:nvPr/>
          </p:nvSpPr>
          <p:spPr>
            <a:xfrm>
              <a:off x="3757460" y="3390900"/>
              <a:ext cx="542925" cy="19050"/>
            </a:xfrm>
            <a:custGeom>
              <a:avLst/>
              <a:gdLst/>
              <a:ahLst/>
              <a:cxnLst/>
              <a:rect l="l" t="t" r="r" b="b"/>
              <a:pathLst>
                <a:path w="542925" h="19050">
                  <a:moveTo>
                    <a:pt x="5360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36028" y="19050"/>
                  </a:lnTo>
                  <a:lnTo>
                    <a:pt x="538276" y="18122"/>
                  </a:lnTo>
                  <a:lnTo>
                    <a:pt x="541997" y="14401"/>
                  </a:lnTo>
                  <a:lnTo>
                    <a:pt x="542925" y="12153"/>
                  </a:lnTo>
                  <a:lnTo>
                    <a:pt x="542925" y="6896"/>
                  </a:lnTo>
                  <a:lnTo>
                    <a:pt x="541997" y="4648"/>
                  </a:lnTo>
                  <a:lnTo>
                    <a:pt x="538276" y="927"/>
                  </a:lnTo>
                  <a:lnTo>
                    <a:pt x="536028" y="0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3371697" y="319563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30" y="0"/>
                  </a:lnTo>
                  <a:lnTo>
                    <a:pt x="51295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30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71697" y="319563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81" y="32842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25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40005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95" y="381"/>
                  </a:lnTo>
                  <a:lnTo>
                    <a:pt x="55130" y="0"/>
                  </a:lnTo>
                  <a:lnTo>
                    <a:pt x="59004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57" y="3009"/>
                  </a:lnTo>
                  <a:lnTo>
                    <a:pt x="363639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90105" y="26212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66" y="36423"/>
                  </a:lnTo>
                  <a:lnTo>
                    <a:pt x="397052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81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81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52" y="360045"/>
                  </a:lnTo>
                  <a:lnTo>
                    <a:pt x="395566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37"/>
                  </a:lnTo>
                  <a:lnTo>
                    <a:pt x="387959" y="377050"/>
                  </a:lnTo>
                  <a:lnTo>
                    <a:pt x="373837" y="390105"/>
                  </a:lnTo>
                  <a:lnTo>
                    <a:pt x="370611" y="392264"/>
                  </a:lnTo>
                  <a:lnTo>
                    <a:pt x="367207" y="394081"/>
                  </a:lnTo>
                  <a:lnTo>
                    <a:pt x="363639" y="395554"/>
                  </a:lnTo>
                  <a:lnTo>
                    <a:pt x="360057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9004" y="400050"/>
                  </a:lnTo>
                  <a:lnTo>
                    <a:pt x="55130" y="400050"/>
                  </a:lnTo>
                  <a:lnTo>
                    <a:pt x="51295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40005" y="397040"/>
                  </a:lnTo>
                  <a:lnTo>
                    <a:pt x="36423" y="395554"/>
                  </a:lnTo>
                  <a:lnTo>
                    <a:pt x="32842" y="394081"/>
                  </a:lnTo>
                  <a:lnTo>
                    <a:pt x="29438" y="392264"/>
                  </a:lnTo>
                  <a:lnTo>
                    <a:pt x="26225" y="390105"/>
                  </a:lnTo>
                  <a:lnTo>
                    <a:pt x="22999" y="387959"/>
                  </a:lnTo>
                  <a:lnTo>
                    <a:pt x="20015" y="385508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4495" y="363626"/>
                  </a:lnTo>
                  <a:lnTo>
                    <a:pt x="3009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3486988" y="3217468"/>
            <a:ext cx="1733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>
                <a:solidFill>
                  <a:srgbClr val="2B3440"/>
                </a:solidFill>
                <a:latin typeface="Verdana"/>
                <a:cs typeface="Verdana"/>
              </a:rPr>
              <a:t>2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4469997" y="3240090"/>
            <a:ext cx="2045970" cy="122872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just" marL="12700">
              <a:lnSpc>
                <a:spcPct val="100000"/>
              </a:lnSpc>
              <a:spcBef>
                <a:spcPts val="135"/>
              </a:spcBef>
            </a:pPr>
            <a:r>
              <a:rPr dirty="0" sz="1650" spc="-45">
                <a:solidFill>
                  <a:srgbClr val="2B3440"/>
                </a:solidFill>
                <a:latin typeface="Verdana"/>
                <a:cs typeface="Verdana"/>
              </a:rPr>
              <a:t>Feedback</a:t>
            </a:r>
            <a:r>
              <a:rPr dirty="0" sz="1650" spc="-19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80">
                <a:solidFill>
                  <a:srgbClr val="2B3440"/>
                </a:solidFill>
                <a:latin typeface="Verdana"/>
                <a:cs typeface="Verdana"/>
              </a:rPr>
              <a:t>&amp;</a:t>
            </a:r>
            <a:r>
              <a:rPr dirty="0" sz="1650" spc="-19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70">
                <a:solidFill>
                  <a:srgbClr val="2B3440"/>
                </a:solidFill>
                <a:latin typeface="Verdana"/>
                <a:cs typeface="Verdana"/>
              </a:rPr>
              <a:t>Iteration</a:t>
            </a:r>
            <a:endParaRPr sz="1650">
              <a:latin typeface="Verdana"/>
              <a:cs typeface="Verdana"/>
            </a:endParaRPr>
          </a:p>
          <a:p>
            <a:pPr algn="just" marL="12700" marR="31115">
              <a:lnSpc>
                <a:spcPct val="136200"/>
              </a:lnSpc>
              <a:spcBef>
                <a:spcPts val="590"/>
              </a:spcBef>
            </a:pP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Continuous</a:t>
            </a:r>
            <a:r>
              <a:rPr dirty="0" sz="1400" spc="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improvement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cycles</a:t>
            </a:r>
            <a:r>
              <a:rPr dirty="0" sz="1400" spc="-2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30">
                <a:solidFill>
                  <a:srgbClr val="2B3440"/>
                </a:solidFill>
                <a:latin typeface="Verdana"/>
                <a:cs typeface="Verdana"/>
              </a:rPr>
              <a:t>based</a:t>
            </a:r>
            <a:r>
              <a:rPr dirty="0" sz="1400" spc="4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15">
                <a:solidFill>
                  <a:srgbClr val="2B3440"/>
                </a:solidFill>
                <a:latin typeface="Verdana"/>
                <a:cs typeface="Verdana"/>
              </a:rPr>
              <a:t>on</a:t>
            </a:r>
            <a:r>
              <a:rPr dirty="0" sz="1400" spc="9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40">
                <a:solidFill>
                  <a:srgbClr val="2B3440"/>
                </a:solidFill>
                <a:latin typeface="Verdana"/>
                <a:cs typeface="Verdana"/>
              </a:rPr>
              <a:t>user</a:t>
            </a:r>
            <a:r>
              <a:rPr dirty="0" sz="1400" spc="3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5">
                <a:solidFill>
                  <a:srgbClr val="2B3440"/>
                </a:solidFill>
                <a:latin typeface="Verdana"/>
                <a:cs typeface="Verdana"/>
              </a:rPr>
              <a:t>and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administrator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insights.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2843365" y="4133850"/>
            <a:ext cx="933450" cy="409575"/>
            <a:chOff x="2843365" y="4133850"/>
            <a:chExt cx="933450" cy="409575"/>
          </a:xfrm>
        </p:grpSpPr>
        <p:sp>
          <p:nvSpPr>
            <p:cNvPr id="21" name="object 21" descr=""/>
            <p:cNvSpPr/>
            <p:nvPr/>
          </p:nvSpPr>
          <p:spPr>
            <a:xfrm>
              <a:off x="2843365" y="4324350"/>
              <a:ext cx="542925" cy="19050"/>
            </a:xfrm>
            <a:custGeom>
              <a:avLst/>
              <a:gdLst/>
              <a:ahLst/>
              <a:cxnLst/>
              <a:rect l="l" t="t" r="r" b="b"/>
              <a:pathLst>
                <a:path w="542925" h="19050">
                  <a:moveTo>
                    <a:pt x="5360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36028" y="19050"/>
                  </a:lnTo>
                  <a:lnTo>
                    <a:pt x="538276" y="18122"/>
                  </a:lnTo>
                  <a:lnTo>
                    <a:pt x="541997" y="14401"/>
                  </a:lnTo>
                  <a:lnTo>
                    <a:pt x="542925" y="12153"/>
                  </a:lnTo>
                  <a:lnTo>
                    <a:pt x="542925" y="6896"/>
                  </a:lnTo>
                  <a:lnTo>
                    <a:pt x="541997" y="4648"/>
                  </a:lnTo>
                  <a:lnTo>
                    <a:pt x="538276" y="927"/>
                  </a:lnTo>
                  <a:lnTo>
                    <a:pt x="536028" y="0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2" name="object 22" descr=""/>
            <p:cNvSpPr/>
            <p:nvPr/>
          </p:nvSpPr>
          <p:spPr>
            <a:xfrm>
              <a:off x="3372002" y="41386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19" y="0"/>
                  </a:moveTo>
                  <a:lnTo>
                    <a:pt x="55118" y="0"/>
                  </a:lnTo>
                  <a:lnTo>
                    <a:pt x="51282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18" y="400050"/>
                  </a:lnTo>
                  <a:lnTo>
                    <a:pt x="344919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54" y="381"/>
                  </a:lnTo>
                  <a:lnTo>
                    <a:pt x="344919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3" name="object 23" descr=""/>
            <p:cNvSpPr/>
            <p:nvPr/>
          </p:nvSpPr>
          <p:spPr>
            <a:xfrm>
              <a:off x="3372002" y="4138612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68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2997" y="39992"/>
                  </a:lnTo>
                  <a:lnTo>
                    <a:pt x="4483" y="36423"/>
                  </a:lnTo>
                  <a:lnTo>
                    <a:pt x="5969" y="32842"/>
                  </a:lnTo>
                  <a:lnTo>
                    <a:pt x="7785" y="29438"/>
                  </a:lnTo>
                  <a:lnTo>
                    <a:pt x="9944" y="26212"/>
                  </a:lnTo>
                  <a:lnTo>
                    <a:pt x="12090" y="22999"/>
                  </a:lnTo>
                  <a:lnTo>
                    <a:pt x="14541" y="20015"/>
                  </a:lnTo>
                  <a:lnTo>
                    <a:pt x="17272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12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10" y="4495"/>
                  </a:lnTo>
                  <a:lnTo>
                    <a:pt x="39992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82" y="381"/>
                  </a:lnTo>
                  <a:lnTo>
                    <a:pt x="55118" y="0"/>
                  </a:lnTo>
                  <a:lnTo>
                    <a:pt x="58991" y="0"/>
                  </a:lnTo>
                  <a:lnTo>
                    <a:pt x="341045" y="0"/>
                  </a:lnTo>
                  <a:lnTo>
                    <a:pt x="344919" y="0"/>
                  </a:lnTo>
                  <a:lnTo>
                    <a:pt x="348754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45" y="3009"/>
                  </a:lnTo>
                  <a:lnTo>
                    <a:pt x="363626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24" y="9944"/>
                  </a:lnTo>
                  <a:lnTo>
                    <a:pt x="377050" y="12090"/>
                  </a:lnTo>
                  <a:lnTo>
                    <a:pt x="380034" y="14541"/>
                  </a:lnTo>
                  <a:lnTo>
                    <a:pt x="382765" y="17284"/>
                  </a:lnTo>
                  <a:lnTo>
                    <a:pt x="385508" y="20015"/>
                  </a:lnTo>
                  <a:lnTo>
                    <a:pt x="395554" y="36423"/>
                  </a:lnTo>
                  <a:lnTo>
                    <a:pt x="397040" y="39992"/>
                  </a:lnTo>
                  <a:lnTo>
                    <a:pt x="398157" y="43688"/>
                  </a:lnTo>
                  <a:lnTo>
                    <a:pt x="398907" y="47485"/>
                  </a:lnTo>
                  <a:lnTo>
                    <a:pt x="399669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69" y="348767"/>
                  </a:lnTo>
                  <a:lnTo>
                    <a:pt x="398907" y="352564"/>
                  </a:lnTo>
                  <a:lnTo>
                    <a:pt x="398157" y="356362"/>
                  </a:lnTo>
                  <a:lnTo>
                    <a:pt x="397040" y="360045"/>
                  </a:lnTo>
                  <a:lnTo>
                    <a:pt x="395554" y="363626"/>
                  </a:lnTo>
                  <a:lnTo>
                    <a:pt x="394068" y="367207"/>
                  </a:lnTo>
                  <a:lnTo>
                    <a:pt x="382765" y="382765"/>
                  </a:lnTo>
                  <a:lnTo>
                    <a:pt x="380034" y="385508"/>
                  </a:lnTo>
                  <a:lnTo>
                    <a:pt x="377050" y="387959"/>
                  </a:lnTo>
                  <a:lnTo>
                    <a:pt x="373824" y="390105"/>
                  </a:lnTo>
                  <a:lnTo>
                    <a:pt x="370611" y="392264"/>
                  </a:lnTo>
                  <a:lnTo>
                    <a:pt x="367207" y="394081"/>
                  </a:lnTo>
                  <a:lnTo>
                    <a:pt x="363626" y="395554"/>
                  </a:lnTo>
                  <a:lnTo>
                    <a:pt x="360045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54" y="399669"/>
                  </a:lnTo>
                  <a:lnTo>
                    <a:pt x="344919" y="400050"/>
                  </a:lnTo>
                  <a:lnTo>
                    <a:pt x="341045" y="400050"/>
                  </a:lnTo>
                  <a:lnTo>
                    <a:pt x="58991" y="400050"/>
                  </a:lnTo>
                  <a:lnTo>
                    <a:pt x="55118" y="400050"/>
                  </a:lnTo>
                  <a:lnTo>
                    <a:pt x="51282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39992" y="397040"/>
                  </a:lnTo>
                  <a:lnTo>
                    <a:pt x="36410" y="395554"/>
                  </a:lnTo>
                  <a:lnTo>
                    <a:pt x="32842" y="394081"/>
                  </a:lnTo>
                  <a:lnTo>
                    <a:pt x="29438" y="392264"/>
                  </a:lnTo>
                  <a:lnTo>
                    <a:pt x="26212" y="390105"/>
                  </a:lnTo>
                  <a:lnTo>
                    <a:pt x="22999" y="387959"/>
                  </a:lnTo>
                  <a:lnTo>
                    <a:pt x="9944" y="373837"/>
                  </a:lnTo>
                  <a:lnTo>
                    <a:pt x="7785" y="370611"/>
                  </a:lnTo>
                  <a:lnTo>
                    <a:pt x="5969" y="367207"/>
                  </a:lnTo>
                  <a:lnTo>
                    <a:pt x="4483" y="363626"/>
                  </a:lnTo>
                  <a:lnTo>
                    <a:pt x="2997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68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4" name="object 24" descr=""/>
          <p:cNvSpPr txBox="1"/>
          <p:nvPr/>
        </p:nvSpPr>
        <p:spPr>
          <a:xfrm>
            <a:off x="3486988" y="4160443"/>
            <a:ext cx="1733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>
                <a:solidFill>
                  <a:srgbClr val="2B3440"/>
                </a:solidFill>
                <a:latin typeface="Verdana"/>
                <a:cs typeface="Verdana"/>
              </a:rPr>
              <a:t>3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25" name="object 25" descr=""/>
          <p:cNvSpPr txBox="1"/>
          <p:nvPr/>
        </p:nvSpPr>
        <p:spPr>
          <a:xfrm>
            <a:off x="757034" y="4183065"/>
            <a:ext cx="1920875" cy="152400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ct val="100000"/>
              </a:lnSpc>
              <a:spcBef>
                <a:spcPts val="135"/>
              </a:spcBef>
            </a:pPr>
            <a:r>
              <a:rPr dirty="0" sz="1650" spc="-30">
                <a:solidFill>
                  <a:srgbClr val="2B3440"/>
                </a:solidFill>
                <a:latin typeface="Verdana"/>
                <a:cs typeface="Verdana"/>
              </a:rPr>
              <a:t>Mobile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>
                <a:solidFill>
                  <a:srgbClr val="2B3440"/>
                </a:solidFill>
                <a:latin typeface="Verdana"/>
                <a:cs typeface="Verdana"/>
              </a:rPr>
              <a:t>App</a:t>
            </a:r>
            <a:r>
              <a:rPr dirty="0" sz="1650" spc="-18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Launch</a:t>
            </a:r>
            <a:endParaRPr sz="1650">
              <a:latin typeface="Verdana"/>
              <a:cs typeface="Verdana"/>
            </a:endParaRPr>
          </a:p>
          <a:p>
            <a:pPr algn="r" marL="47625" marR="5080" indent="-25400">
              <a:lnSpc>
                <a:spcPct val="136200"/>
              </a:lnSpc>
              <a:spcBef>
                <a:spcPts val="590"/>
              </a:spcBef>
            </a:pP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Dedicated</a:t>
            </a:r>
            <a:r>
              <a:rPr dirty="0" sz="1400" spc="-18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native</a:t>
            </a:r>
            <a:r>
              <a:rPr dirty="0" sz="1400" spc="-17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mobile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applications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for</a:t>
            </a:r>
            <a:r>
              <a:rPr dirty="0" sz="1400" spc="-15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iOS</a:t>
            </a: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and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Android,</a:t>
            </a:r>
            <a:r>
              <a:rPr dirty="0" sz="1400" spc="-1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expanding</a:t>
            </a:r>
            <a:endParaRPr sz="1400">
              <a:latin typeface="Verdana"/>
              <a:cs typeface="Verdana"/>
            </a:endParaRPr>
          </a:p>
          <a:p>
            <a:pPr algn="r" marR="5080">
              <a:lnSpc>
                <a:spcPct val="100000"/>
              </a:lnSpc>
              <a:spcBef>
                <a:spcPts val="645"/>
              </a:spcBef>
            </a:pPr>
            <a:r>
              <a:rPr dirty="0" sz="1400" spc="-30">
                <a:solidFill>
                  <a:srgbClr val="2B3440"/>
                </a:solidFill>
                <a:latin typeface="Verdana"/>
                <a:cs typeface="Verdana"/>
              </a:rPr>
              <a:t>accessibility.</a:t>
            </a:r>
            <a:endParaRPr sz="1400">
              <a:latin typeface="Verdana"/>
              <a:cs typeface="Verdana"/>
            </a:endParaRPr>
          </a:p>
        </p:txBody>
      </p:sp>
      <p:grpSp>
        <p:nvGrpSpPr>
          <p:cNvPr id="26" name="object 26" descr=""/>
          <p:cNvGrpSpPr/>
          <p:nvPr/>
        </p:nvGrpSpPr>
        <p:grpSpPr>
          <a:xfrm>
            <a:off x="3366935" y="5114925"/>
            <a:ext cx="933450" cy="409575"/>
            <a:chOff x="3366935" y="5114925"/>
            <a:chExt cx="933450" cy="409575"/>
          </a:xfrm>
        </p:grpSpPr>
        <p:sp>
          <p:nvSpPr>
            <p:cNvPr id="27" name="object 27" descr=""/>
            <p:cNvSpPr/>
            <p:nvPr/>
          </p:nvSpPr>
          <p:spPr>
            <a:xfrm>
              <a:off x="3757460" y="5314950"/>
              <a:ext cx="542925" cy="19050"/>
            </a:xfrm>
            <a:custGeom>
              <a:avLst/>
              <a:gdLst/>
              <a:ahLst/>
              <a:cxnLst/>
              <a:rect l="l" t="t" r="r" b="b"/>
              <a:pathLst>
                <a:path w="542925" h="19050">
                  <a:moveTo>
                    <a:pt x="536028" y="0"/>
                  </a:moveTo>
                  <a:lnTo>
                    <a:pt x="6896" y="0"/>
                  </a:lnTo>
                  <a:lnTo>
                    <a:pt x="4648" y="927"/>
                  </a:lnTo>
                  <a:lnTo>
                    <a:pt x="927" y="4648"/>
                  </a:lnTo>
                  <a:lnTo>
                    <a:pt x="0" y="6896"/>
                  </a:lnTo>
                  <a:lnTo>
                    <a:pt x="0" y="9525"/>
                  </a:lnTo>
                  <a:lnTo>
                    <a:pt x="0" y="12153"/>
                  </a:lnTo>
                  <a:lnTo>
                    <a:pt x="927" y="14401"/>
                  </a:lnTo>
                  <a:lnTo>
                    <a:pt x="4648" y="18122"/>
                  </a:lnTo>
                  <a:lnTo>
                    <a:pt x="6896" y="19050"/>
                  </a:lnTo>
                  <a:lnTo>
                    <a:pt x="536028" y="19050"/>
                  </a:lnTo>
                  <a:lnTo>
                    <a:pt x="538276" y="18122"/>
                  </a:lnTo>
                  <a:lnTo>
                    <a:pt x="541997" y="14401"/>
                  </a:lnTo>
                  <a:lnTo>
                    <a:pt x="542925" y="12153"/>
                  </a:lnTo>
                  <a:lnTo>
                    <a:pt x="542925" y="6896"/>
                  </a:lnTo>
                  <a:lnTo>
                    <a:pt x="541997" y="4648"/>
                  </a:lnTo>
                  <a:lnTo>
                    <a:pt x="538276" y="927"/>
                  </a:lnTo>
                  <a:lnTo>
                    <a:pt x="536028" y="0"/>
                  </a:lnTo>
                  <a:close/>
                </a:path>
              </a:pathLst>
            </a:custGeom>
            <a:solidFill>
              <a:srgbClr val="D5CDBD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8" name="object 28" descr=""/>
            <p:cNvSpPr/>
            <p:nvPr/>
          </p:nvSpPr>
          <p:spPr>
            <a:xfrm>
              <a:off x="3371697" y="51196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344932" y="0"/>
                  </a:moveTo>
                  <a:lnTo>
                    <a:pt x="55130" y="0"/>
                  </a:lnTo>
                  <a:lnTo>
                    <a:pt x="51295" y="381"/>
                  </a:lnTo>
                  <a:lnTo>
                    <a:pt x="14541" y="20015"/>
                  </a:lnTo>
                  <a:lnTo>
                    <a:pt x="0" y="55118"/>
                  </a:lnTo>
                  <a:lnTo>
                    <a:pt x="0" y="341058"/>
                  </a:lnTo>
                  <a:lnTo>
                    <a:pt x="0" y="344932"/>
                  </a:lnTo>
                  <a:lnTo>
                    <a:pt x="20015" y="385508"/>
                  </a:lnTo>
                  <a:lnTo>
                    <a:pt x="55130" y="400050"/>
                  </a:lnTo>
                  <a:lnTo>
                    <a:pt x="344932" y="400050"/>
                  </a:lnTo>
                  <a:lnTo>
                    <a:pt x="385508" y="380034"/>
                  </a:lnTo>
                  <a:lnTo>
                    <a:pt x="400050" y="344932"/>
                  </a:lnTo>
                  <a:lnTo>
                    <a:pt x="400050" y="55118"/>
                  </a:lnTo>
                  <a:lnTo>
                    <a:pt x="380034" y="14541"/>
                  </a:lnTo>
                  <a:lnTo>
                    <a:pt x="348767" y="381"/>
                  </a:lnTo>
                  <a:lnTo>
                    <a:pt x="344932" y="0"/>
                  </a:lnTo>
                  <a:close/>
                </a:path>
              </a:pathLst>
            </a:custGeom>
            <a:solidFill>
              <a:srgbClr val="FAF5EB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29" name="object 29" descr=""/>
            <p:cNvSpPr/>
            <p:nvPr/>
          </p:nvSpPr>
          <p:spPr>
            <a:xfrm>
              <a:off x="3371697" y="5119687"/>
              <a:ext cx="400050" cy="400050"/>
            </a:xfrm>
            <a:custGeom>
              <a:avLst/>
              <a:gdLst/>
              <a:ahLst/>
              <a:cxnLst/>
              <a:rect l="l" t="t" r="r" b="b"/>
              <a:pathLst>
                <a:path w="400050" h="400050">
                  <a:moveTo>
                    <a:pt x="0" y="341058"/>
                  </a:moveTo>
                  <a:lnTo>
                    <a:pt x="0" y="58991"/>
                  </a:lnTo>
                  <a:lnTo>
                    <a:pt x="0" y="55118"/>
                  </a:lnTo>
                  <a:lnTo>
                    <a:pt x="381" y="51282"/>
                  </a:lnTo>
                  <a:lnTo>
                    <a:pt x="1130" y="47485"/>
                  </a:lnTo>
                  <a:lnTo>
                    <a:pt x="1892" y="43688"/>
                  </a:lnTo>
                  <a:lnTo>
                    <a:pt x="3009" y="39992"/>
                  </a:lnTo>
                  <a:lnTo>
                    <a:pt x="4495" y="36423"/>
                  </a:lnTo>
                  <a:lnTo>
                    <a:pt x="5981" y="32842"/>
                  </a:lnTo>
                  <a:lnTo>
                    <a:pt x="17284" y="17284"/>
                  </a:lnTo>
                  <a:lnTo>
                    <a:pt x="20015" y="14541"/>
                  </a:lnTo>
                  <a:lnTo>
                    <a:pt x="22999" y="12090"/>
                  </a:lnTo>
                  <a:lnTo>
                    <a:pt x="26225" y="9944"/>
                  </a:lnTo>
                  <a:lnTo>
                    <a:pt x="29438" y="7785"/>
                  </a:lnTo>
                  <a:lnTo>
                    <a:pt x="32842" y="5969"/>
                  </a:lnTo>
                  <a:lnTo>
                    <a:pt x="36423" y="4495"/>
                  </a:lnTo>
                  <a:lnTo>
                    <a:pt x="40005" y="3009"/>
                  </a:lnTo>
                  <a:lnTo>
                    <a:pt x="43688" y="1892"/>
                  </a:lnTo>
                  <a:lnTo>
                    <a:pt x="47485" y="1130"/>
                  </a:lnTo>
                  <a:lnTo>
                    <a:pt x="51295" y="381"/>
                  </a:lnTo>
                  <a:lnTo>
                    <a:pt x="55130" y="0"/>
                  </a:lnTo>
                  <a:lnTo>
                    <a:pt x="59004" y="0"/>
                  </a:lnTo>
                  <a:lnTo>
                    <a:pt x="341058" y="0"/>
                  </a:lnTo>
                  <a:lnTo>
                    <a:pt x="344932" y="0"/>
                  </a:lnTo>
                  <a:lnTo>
                    <a:pt x="348767" y="381"/>
                  </a:lnTo>
                  <a:lnTo>
                    <a:pt x="352564" y="1130"/>
                  </a:lnTo>
                  <a:lnTo>
                    <a:pt x="356362" y="1892"/>
                  </a:lnTo>
                  <a:lnTo>
                    <a:pt x="360057" y="3009"/>
                  </a:lnTo>
                  <a:lnTo>
                    <a:pt x="363639" y="4495"/>
                  </a:lnTo>
                  <a:lnTo>
                    <a:pt x="367207" y="5969"/>
                  </a:lnTo>
                  <a:lnTo>
                    <a:pt x="370611" y="7785"/>
                  </a:lnTo>
                  <a:lnTo>
                    <a:pt x="373837" y="9944"/>
                  </a:lnTo>
                  <a:lnTo>
                    <a:pt x="377050" y="12090"/>
                  </a:lnTo>
                  <a:lnTo>
                    <a:pt x="390105" y="26212"/>
                  </a:lnTo>
                  <a:lnTo>
                    <a:pt x="392264" y="29438"/>
                  </a:lnTo>
                  <a:lnTo>
                    <a:pt x="394081" y="32842"/>
                  </a:lnTo>
                  <a:lnTo>
                    <a:pt x="395566" y="36423"/>
                  </a:lnTo>
                  <a:lnTo>
                    <a:pt x="397052" y="39992"/>
                  </a:lnTo>
                  <a:lnTo>
                    <a:pt x="398157" y="43688"/>
                  </a:lnTo>
                  <a:lnTo>
                    <a:pt x="398919" y="47485"/>
                  </a:lnTo>
                  <a:lnTo>
                    <a:pt x="399681" y="51282"/>
                  </a:lnTo>
                  <a:lnTo>
                    <a:pt x="400050" y="55118"/>
                  </a:lnTo>
                  <a:lnTo>
                    <a:pt x="400050" y="58991"/>
                  </a:lnTo>
                  <a:lnTo>
                    <a:pt x="400050" y="341058"/>
                  </a:lnTo>
                  <a:lnTo>
                    <a:pt x="400050" y="344932"/>
                  </a:lnTo>
                  <a:lnTo>
                    <a:pt x="399681" y="348767"/>
                  </a:lnTo>
                  <a:lnTo>
                    <a:pt x="398919" y="352564"/>
                  </a:lnTo>
                  <a:lnTo>
                    <a:pt x="398157" y="356362"/>
                  </a:lnTo>
                  <a:lnTo>
                    <a:pt x="397052" y="360045"/>
                  </a:lnTo>
                  <a:lnTo>
                    <a:pt x="395566" y="363626"/>
                  </a:lnTo>
                  <a:lnTo>
                    <a:pt x="394081" y="367207"/>
                  </a:lnTo>
                  <a:lnTo>
                    <a:pt x="392264" y="370611"/>
                  </a:lnTo>
                  <a:lnTo>
                    <a:pt x="390105" y="373837"/>
                  </a:lnTo>
                  <a:lnTo>
                    <a:pt x="387959" y="377050"/>
                  </a:lnTo>
                  <a:lnTo>
                    <a:pt x="373837" y="390105"/>
                  </a:lnTo>
                  <a:lnTo>
                    <a:pt x="370611" y="392264"/>
                  </a:lnTo>
                  <a:lnTo>
                    <a:pt x="367207" y="394081"/>
                  </a:lnTo>
                  <a:lnTo>
                    <a:pt x="363639" y="395554"/>
                  </a:lnTo>
                  <a:lnTo>
                    <a:pt x="360057" y="397040"/>
                  </a:lnTo>
                  <a:lnTo>
                    <a:pt x="356362" y="398157"/>
                  </a:lnTo>
                  <a:lnTo>
                    <a:pt x="352564" y="398919"/>
                  </a:lnTo>
                  <a:lnTo>
                    <a:pt x="348767" y="399669"/>
                  </a:lnTo>
                  <a:lnTo>
                    <a:pt x="344932" y="400050"/>
                  </a:lnTo>
                  <a:lnTo>
                    <a:pt x="341058" y="400050"/>
                  </a:lnTo>
                  <a:lnTo>
                    <a:pt x="59004" y="400050"/>
                  </a:lnTo>
                  <a:lnTo>
                    <a:pt x="55130" y="400050"/>
                  </a:lnTo>
                  <a:lnTo>
                    <a:pt x="51295" y="399669"/>
                  </a:lnTo>
                  <a:lnTo>
                    <a:pt x="47485" y="398919"/>
                  </a:lnTo>
                  <a:lnTo>
                    <a:pt x="43688" y="398157"/>
                  </a:lnTo>
                  <a:lnTo>
                    <a:pt x="40005" y="397040"/>
                  </a:lnTo>
                  <a:lnTo>
                    <a:pt x="36423" y="395554"/>
                  </a:lnTo>
                  <a:lnTo>
                    <a:pt x="32842" y="394081"/>
                  </a:lnTo>
                  <a:lnTo>
                    <a:pt x="29438" y="392264"/>
                  </a:lnTo>
                  <a:lnTo>
                    <a:pt x="26225" y="390105"/>
                  </a:lnTo>
                  <a:lnTo>
                    <a:pt x="22999" y="387959"/>
                  </a:lnTo>
                  <a:lnTo>
                    <a:pt x="20015" y="385508"/>
                  </a:lnTo>
                  <a:lnTo>
                    <a:pt x="17284" y="382765"/>
                  </a:lnTo>
                  <a:lnTo>
                    <a:pt x="14541" y="380034"/>
                  </a:lnTo>
                  <a:lnTo>
                    <a:pt x="4495" y="363626"/>
                  </a:lnTo>
                  <a:lnTo>
                    <a:pt x="3009" y="360045"/>
                  </a:lnTo>
                  <a:lnTo>
                    <a:pt x="1892" y="356362"/>
                  </a:lnTo>
                  <a:lnTo>
                    <a:pt x="1130" y="352564"/>
                  </a:lnTo>
                  <a:lnTo>
                    <a:pt x="381" y="348767"/>
                  </a:lnTo>
                  <a:lnTo>
                    <a:pt x="0" y="344932"/>
                  </a:lnTo>
                  <a:lnTo>
                    <a:pt x="0" y="341058"/>
                  </a:lnTo>
                  <a:close/>
                </a:path>
              </a:pathLst>
            </a:custGeom>
            <a:ln w="9525">
              <a:solidFill>
                <a:srgbClr val="D5CDBD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30" name="object 30" descr=""/>
          <p:cNvSpPr txBox="1"/>
          <p:nvPr/>
        </p:nvSpPr>
        <p:spPr>
          <a:xfrm>
            <a:off x="3486988" y="5141518"/>
            <a:ext cx="173355" cy="33401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00" spc="-60">
                <a:solidFill>
                  <a:srgbClr val="2B3440"/>
                </a:solidFill>
                <a:latin typeface="Verdana"/>
                <a:cs typeface="Verdana"/>
              </a:rPr>
              <a:t>4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31" name="object 31" descr=""/>
          <p:cNvSpPr txBox="1"/>
          <p:nvPr/>
        </p:nvSpPr>
        <p:spPr>
          <a:xfrm>
            <a:off x="4469997" y="5164140"/>
            <a:ext cx="1967864" cy="1504950"/>
          </a:xfrm>
          <a:prstGeom prst="rect">
            <a:avLst/>
          </a:prstGeom>
        </p:spPr>
        <p:txBody>
          <a:bodyPr wrap="square" lIns="0" tIns="1905" rIns="0" bIns="0" rtlCol="0" vert="horz">
            <a:spAutoFit/>
          </a:bodyPr>
          <a:lstStyle/>
          <a:p>
            <a:pPr algn="just" marL="12700" marR="699770">
              <a:lnSpc>
                <a:spcPct val="106100"/>
              </a:lnSpc>
              <a:spcBef>
                <a:spcPts val="15"/>
              </a:spcBef>
            </a:pPr>
            <a:r>
              <a:rPr dirty="0" sz="1650" spc="-65">
                <a:solidFill>
                  <a:srgbClr val="2B3440"/>
                </a:solidFill>
                <a:latin typeface="Verdana"/>
                <a:cs typeface="Verdana"/>
              </a:rPr>
              <a:t>Marketing</a:t>
            </a:r>
            <a:r>
              <a:rPr dirty="0" sz="1650" spc="-1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650" spc="-50">
                <a:solidFill>
                  <a:srgbClr val="2B3440"/>
                </a:solidFill>
                <a:latin typeface="Verdana"/>
                <a:cs typeface="Verdana"/>
              </a:rPr>
              <a:t>&amp; </a:t>
            </a:r>
            <a:r>
              <a:rPr dirty="0" sz="1650" spc="-45">
                <a:solidFill>
                  <a:srgbClr val="2B3440"/>
                </a:solidFill>
                <a:latin typeface="Verdana"/>
                <a:cs typeface="Verdana"/>
              </a:rPr>
              <a:t>Partnerships</a:t>
            </a:r>
            <a:endParaRPr sz="1650">
              <a:latin typeface="Verdana"/>
              <a:cs typeface="Verdana"/>
            </a:endParaRPr>
          </a:p>
          <a:p>
            <a:pPr algn="just" marL="12700" marR="5080">
              <a:lnSpc>
                <a:spcPct val="136200"/>
              </a:lnSpc>
              <a:spcBef>
                <a:spcPts val="660"/>
              </a:spcBef>
            </a:pP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Strategic</a:t>
            </a:r>
            <a:r>
              <a:rPr dirty="0" sz="1400" spc="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4">
                <a:solidFill>
                  <a:srgbClr val="2B3440"/>
                </a:solidFill>
                <a:latin typeface="Verdana"/>
                <a:cs typeface="Verdana"/>
              </a:rPr>
              <a:t>campaigns</a:t>
            </a:r>
            <a:r>
              <a:rPr dirty="0" sz="1400" spc="5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and </a:t>
            </a:r>
            <a:r>
              <a:rPr dirty="0" sz="1400" spc="-100">
                <a:solidFill>
                  <a:srgbClr val="2B3440"/>
                </a:solidFill>
                <a:latin typeface="Verdana"/>
                <a:cs typeface="Verdana"/>
              </a:rPr>
              <a:t>collaborations</a:t>
            </a:r>
            <a:r>
              <a:rPr dirty="0" sz="1400" spc="10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220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10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expand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our</a:t>
            </a:r>
            <a:r>
              <a:rPr dirty="0" sz="1400" spc="-17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reach</a:t>
            </a:r>
            <a:r>
              <a:rPr dirty="0" sz="1400" spc="-17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and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5">
                <a:solidFill>
                  <a:srgbClr val="2B3440"/>
                </a:solidFill>
                <a:latin typeface="Verdana"/>
                <a:cs typeface="Verdana"/>
              </a:rPr>
              <a:t>user</a:t>
            </a:r>
            <a:r>
              <a:rPr dirty="0" sz="1400" spc="-17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base.</a:t>
            </a:r>
            <a:endParaRPr sz="1400">
              <a:latin typeface="Verdana"/>
              <a:cs typeface="Verdana"/>
            </a:endParaRPr>
          </a:p>
        </p:txBody>
      </p:sp>
      <p:sp>
        <p:nvSpPr>
          <p:cNvPr id="32" name="object 32" descr=""/>
          <p:cNvSpPr txBox="1"/>
          <p:nvPr/>
        </p:nvSpPr>
        <p:spPr>
          <a:xfrm>
            <a:off x="624869" y="6853151"/>
            <a:ext cx="5339715" cy="61595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 marR="5080">
              <a:lnSpc>
                <a:spcPct val="138400"/>
              </a:lnSpc>
              <a:spcBef>
                <a:spcPts val="90"/>
              </a:spcBef>
            </a:pPr>
            <a:r>
              <a:rPr dirty="0" sz="1400" spc="-160">
                <a:solidFill>
                  <a:srgbClr val="2B3440"/>
                </a:solidFill>
                <a:latin typeface="Verdana"/>
                <a:cs typeface="Verdana"/>
              </a:rPr>
              <a:t>We</a:t>
            </a:r>
            <a:r>
              <a:rPr dirty="0" sz="1400" spc="-170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10">
                <a:solidFill>
                  <a:srgbClr val="2B3440"/>
                </a:solidFill>
                <a:latin typeface="Verdana"/>
                <a:cs typeface="Verdana"/>
              </a:rPr>
              <a:t>are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committed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5">
                <a:solidFill>
                  <a:srgbClr val="2B3440"/>
                </a:solidFill>
                <a:latin typeface="Verdana"/>
                <a:cs typeface="Verdana"/>
              </a:rPr>
              <a:t>to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105">
                <a:solidFill>
                  <a:srgbClr val="2B3440"/>
                </a:solidFill>
                <a:latin typeface="Verdana"/>
                <a:cs typeface="Verdana"/>
              </a:rPr>
              <a:t>evolving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70">
                <a:solidFill>
                  <a:srgbClr val="2B3440"/>
                </a:solidFill>
                <a:latin typeface="Verdana"/>
                <a:cs typeface="Verdana"/>
              </a:rPr>
              <a:t>EMBRACE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80">
                <a:solidFill>
                  <a:srgbClr val="2B3440"/>
                </a:solidFill>
                <a:latin typeface="Verdana"/>
                <a:cs typeface="Verdana"/>
              </a:rPr>
              <a:t>into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5">
                <a:solidFill>
                  <a:srgbClr val="2B3440"/>
                </a:solidFill>
                <a:latin typeface="Verdana"/>
                <a:cs typeface="Verdana"/>
              </a:rPr>
              <a:t>the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90">
                <a:solidFill>
                  <a:srgbClr val="2B3440"/>
                </a:solidFill>
                <a:latin typeface="Verdana"/>
                <a:cs typeface="Verdana"/>
              </a:rPr>
              <a:t>leading</a:t>
            </a:r>
            <a:r>
              <a:rPr dirty="0" sz="1400" spc="-165">
                <a:solidFill>
                  <a:srgbClr val="2B3440"/>
                </a:solidFill>
                <a:latin typeface="Verdana"/>
                <a:cs typeface="Verdana"/>
              </a:rPr>
              <a:t> </a:t>
            </a:r>
            <a:r>
              <a:rPr dirty="0" sz="1400" spc="-65">
                <a:solidFill>
                  <a:srgbClr val="2B3440"/>
                </a:solidFill>
                <a:latin typeface="Verdana"/>
                <a:cs typeface="Verdana"/>
              </a:rPr>
              <a:t>enrollment </a:t>
            </a:r>
            <a:r>
              <a:rPr dirty="0" sz="1400" spc="-10">
                <a:solidFill>
                  <a:srgbClr val="2B3440"/>
                </a:solidFill>
                <a:latin typeface="Verdana"/>
                <a:cs typeface="Verdana"/>
              </a:rPr>
              <a:t>platform.</a:t>
            </a:r>
            <a:endParaRPr sz="1400">
              <a:latin typeface="Verdana"/>
              <a:cs typeface="Verdan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terms:created xsi:type="dcterms:W3CDTF">2026-01-08T05:23:45Z</dcterms:created>
  <dcterms:modified xsi:type="dcterms:W3CDTF">2026-01-08T05:23:45Z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2026-01-08T00:00:00Z</vt:filetime>
  </property>
  <property fmtid="{D5CDD505-2E9C-101B-9397-08002B2CF9AE}" pid="3" name="Creator">
    <vt:lpwstr>pdf-lib (https://github.com/Hopding/pdf-lib)</vt:lpwstr>
  </property>
  <property fmtid="{D5CDD505-2E9C-101B-9397-08002B2CF9AE}" pid="4" name="LastSaved">
    <vt:filetime>2026-01-08T00:00:00Z</vt:filetime>
  </property>
  <property fmtid="{D5CDD505-2E9C-101B-9397-08002B2CF9AE}" pid="5" name="Producer">
    <vt:lpwstr>GPL Ghostscript 9.56.1</vt:lpwstr>
  </property>
</Properties>
</file>